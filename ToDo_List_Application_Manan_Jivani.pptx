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Do List Application" id="{5472c3b3-d038-eb7c-b50d-ead6f3843b06}">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Kremish Borad and Manan Jivani from IT-A, A D Patel Institute of Technology, CVM University. Our project is a To-Do List Application built with Python. It shows three core ideas: Python lists, file handling with JSON, and a graphical interface using Tkinter.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To-Do List application helps a person write down tasks and track them until they are finished. It is useful because it replaces paper notes and memory with one organised list. Our app lets the user add, view, complete and delete tasks, and it saves everything in a JSON file so nothing is lost when the program closes. The picture on the right is only a concept drawing; real screenshots are on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tasks by hand has several problems. People forget tasks that are only in their head. Paper notes get lost or damaged. It is hard to see which tasks are finished and which are pending, and updating a handwritten list is slow and messy. Our problem statement is to build a simple digital tool that stores tasks safely and shows them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goals of the application. The user should be able to add tasks, view all tasks, mark tasks as complete, and delete tasks. We also want the tasks to be saved automatically in a JSON file, and the app should have an easy graphical interface built with Tkinter, so that no command-line knowledge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four main technologies. Python is the programming language. Python lists hold all the tasks while the program runs. The json module saves the list to a file and loads it again when the program starts. Tkinter, Python's built-in GUI library, creates the window, buttons and task display. Both json and tkinter come with Python, so no extra installation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shows how a task moves through the system. First the user types a task in the input box and clicks Add. The code checks that the input is not empty. The task is then added to the Python list, the whole list is written to the tasks.json file, and the window is refreshed to show the updated tasks. When the app starts again, it reads tasks.json and loads the saved tasks back into the list, so the data is never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feature uses simple Python list operations. Adding a task appends a new item to the list and saves the file. Marking a task complete changes its status to done and saves again. Deleting removes the chosen task from the list. Displaying tasks loops through the list and shows each one in the window. The code on the right is a simplified idea of these operations: append, change a value, pop, and json.dump to write the list to the file. The exact function names in our program may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the live demonstration. Replace the two dashed frames with real screenshots of our running application: the main window, and the window after tasks have been added and marked complete. On the right is the format in which each task is stored in the tasks.json file: the task text and a completed status. While presenting, open tasks.json beside the app to show that the file updates when a task is added, completed or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 the app is simple, saves tasks between sessions, uses only standard Python modules, and gives good practice with lists, files and GUI. Limitations: it is for one user on one device, has no reminders or due dates, stores data in a plain JSON file without encryption, and has a basic design. Future scope: we can add due dates and reminders, editing and priorities, search and categories, and move storage to a database or the cloud for syncing across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showed how three basic Python topics work together in one useful application. Python lists store and manage the tasks in memory. JSON file handling saves and loads the data so it survives after the program closes. Tkinter turns the program into a friendly window with buttons. Thank you. We are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pic>
        <p:nvPicPr>
          <p:cNvPr id="2" name="Image 0" descr="logo-000.png">    </p:cNvPr>
          <p:cNvPicPr>
            <a:picLocks noChangeAspect="1"/>
          </p:cNvPicPr>
          <p:nvPr/>
        </p:nvPicPr>
        <p:blipFill>
          <a:blip r:embed="rId1"/>
          <a:stretch>
            <a:fillRect/>
          </a:stretch>
        </p:blipFill>
        <p:spPr>
          <a:xfrm>
            <a:off x="621792" y="201168"/>
            <a:ext cx="987552" cy="914400"/>
          </a:xfrm>
          <a:prstGeom prst="rect">
            <a:avLst/>
          </a:prstGeom>
        </p:spPr>
      </p:pic>
      <p:pic>
        <p:nvPicPr>
          <p:cNvPr id="3" name="Image 1" descr="logo-001.png">    </p:cNvPr>
          <p:cNvPicPr>
            <a:picLocks noChangeAspect="1"/>
          </p:cNvPicPr>
          <p:nvPr/>
        </p:nvPicPr>
        <p:blipFill>
          <a:blip r:embed="rId2"/>
          <a:stretch>
            <a:fillRect/>
          </a:stretch>
        </p:blipFill>
        <p:spPr>
          <a:xfrm>
            <a:off x="10707624" y="201168"/>
            <a:ext cx="859536" cy="914400"/>
          </a:xfrm>
          <a:prstGeom prst="rect">
            <a:avLst/>
          </a:prstGeom>
        </p:spPr>
      </p:pic>
      <p:sp>
        <p:nvSpPr>
          <p:cNvPr id="4" name="Text 0"/>
          <p:cNvSpPr txBox="1"/>
          <p:nvPr/>
        </p:nvSpPr>
        <p:spPr>
          <a:xfrm>
            <a:off x="2011680" y="228600"/>
            <a:ext cx="8165592" cy="457200"/>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A D Patel Institute Of Technology</a:t>
            </a:r>
            <a:endParaRPr lang="en-US" sz="2400" dirty="0"/>
          </a:p>
        </p:txBody>
      </p:sp>
      <p:sp>
        <p:nvSpPr>
          <p:cNvPr id="5" name="Text 1"/>
          <p:cNvSpPr txBox="1"/>
          <p:nvPr/>
        </p:nvSpPr>
        <p:spPr>
          <a:xfrm>
            <a:off x="2011680" y="676656"/>
            <a:ext cx="8165592" cy="457200"/>
          </a:xfrm>
          <a:prstGeom prst="rect">
            <a:avLst/>
          </a:prstGeom>
          <a:noFill/>
          <a:ln/>
        </p:spPr>
        <p:txBody>
          <a:bodyPr wrap="square" lIns="0" tIns="0" rIns="0" bIns="0" rtlCol="0" anchor="ctr"/>
          <a:lstStyle/>
          <a:p>
            <a:pPr algn="ctr" indent="0" marL="0">
              <a:buNone/>
            </a:pPr>
            <a:r>
              <a:rPr lang="en-US" sz="2600" b="1" dirty="0">
                <a:solidFill>
                  <a:schemeClr val="accent1"/>
                </a:solidFill>
                <a:latin typeface="+mj-lt" pitchFamily="34" charset="0"/>
                <a:ea typeface="+mj-lt" pitchFamily="34" charset="-122"/>
                <a:cs typeface="+mj-lt" pitchFamily="34" charset="-120"/>
              </a:rPr>
              <a:t>CVM University</a:t>
            </a:r>
            <a:endParaRPr lang="en-US" sz="2600" dirty="0"/>
          </a:p>
        </p:txBody>
      </p:sp>
      <p:sp>
        <p:nvSpPr>
          <p:cNvPr id="6" name="Text 2"/>
          <p:cNvSpPr/>
          <p:nvPr>
            <p:ph idx="104" type="title" hasCustomPrompt="1"/>
          </p:nvPr>
        </p:nvSpPr>
        <p:spPr>
          <a:xfrm>
            <a:off x="621792" y="1783080"/>
            <a:ext cx="6400800" cy="2103120"/>
          </a:xfrm>
          <a:prstGeom prst="rect">
            <a:avLst/>
          </a:prstGeom>
          <a:noFill/>
          <a:ln/>
        </p:spPr>
        <p:txBody>
          <a:bodyPr wrap="square" rtlCol="0"/>
          <a:lstStyle>
            <a:lvl1pPr algn="l" indent="0" marL="0">
              <a:buNone/>
              <a:defRPr lang="en-US" sz="4400" b="1" dirty="0">
                <a:solidFill>
                  <a:schemeClr val="tx2"/>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logo-000.png">    </p:cNvPr>
          <p:cNvPicPr>
            <a:picLocks noChangeAspect="1"/>
          </p:cNvPicPr>
          <p:nvPr/>
        </p:nvPicPr>
        <p:blipFill>
          <a:blip r:embed="rId1"/>
          <a:stretch>
            <a:fillRect/>
          </a:stretch>
        </p:blipFill>
        <p:spPr>
          <a:xfrm>
            <a:off x="621792" y="201168"/>
            <a:ext cx="987552" cy="914400"/>
          </a:xfrm>
          <a:prstGeom prst="rect">
            <a:avLst/>
          </a:prstGeom>
        </p:spPr>
      </p:pic>
      <p:pic>
        <p:nvPicPr>
          <p:cNvPr id="3" name="Image 1" descr="logo-001.png">    </p:cNvPr>
          <p:cNvPicPr>
            <a:picLocks noChangeAspect="1"/>
          </p:cNvPicPr>
          <p:nvPr/>
        </p:nvPicPr>
        <p:blipFill>
          <a:blip r:embed="rId2"/>
          <a:stretch>
            <a:fillRect/>
          </a:stretch>
        </p:blipFill>
        <p:spPr>
          <a:xfrm>
            <a:off x="10707624" y="201168"/>
            <a:ext cx="859536" cy="914400"/>
          </a:xfrm>
          <a:prstGeom prst="rect">
            <a:avLst/>
          </a:prstGeom>
        </p:spPr>
      </p:pic>
      <p:sp>
        <p:nvSpPr>
          <p:cNvPr id="4" name="Text 0"/>
          <p:cNvSpPr txBox="1"/>
          <p:nvPr/>
        </p:nvSpPr>
        <p:spPr>
          <a:xfrm>
            <a:off x="2011680" y="228600"/>
            <a:ext cx="8165592" cy="457200"/>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A D Patel Institute Of Technology</a:t>
            </a:r>
            <a:endParaRPr lang="en-US" sz="2400" dirty="0"/>
          </a:p>
        </p:txBody>
      </p:sp>
      <p:sp>
        <p:nvSpPr>
          <p:cNvPr id="5" name="Text 1"/>
          <p:cNvSpPr txBox="1"/>
          <p:nvPr/>
        </p:nvSpPr>
        <p:spPr>
          <a:xfrm>
            <a:off x="2011680" y="676656"/>
            <a:ext cx="8165592" cy="457200"/>
          </a:xfrm>
          <a:prstGeom prst="rect">
            <a:avLst/>
          </a:prstGeom>
          <a:noFill/>
          <a:ln/>
        </p:spPr>
        <p:txBody>
          <a:bodyPr wrap="square" lIns="0" tIns="0" rIns="0" bIns="0" rtlCol="0" anchor="ctr"/>
          <a:lstStyle/>
          <a:p>
            <a:pPr algn="ctr" indent="0" marL="0">
              <a:buNone/>
            </a:pPr>
            <a:r>
              <a:rPr lang="en-US" sz="2600" b="1" dirty="0">
                <a:solidFill>
                  <a:schemeClr val="accent1"/>
                </a:solidFill>
                <a:latin typeface="+mj-lt" pitchFamily="34" charset="0"/>
                <a:ea typeface="+mj-lt" pitchFamily="34" charset="-122"/>
                <a:cs typeface="+mj-lt" pitchFamily="34" charset="-120"/>
              </a:rPr>
              <a:t>CVM University</a:t>
            </a:r>
            <a:endParaRPr lang="en-US" sz="2600" dirty="0"/>
          </a:p>
        </p:txBody>
      </p:sp>
      <p:sp>
        <p:nvSpPr>
          <p:cNvPr id="6" name="Text 2"/>
          <p:cNvSpPr/>
          <p:nvPr>
            <p:ph idx="104" type="title" hasCustomPrompt="1"/>
          </p:nvPr>
        </p:nvSpPr>
        <p:spPr>
          <a:xfrm>
            <a:off x="621792" y="1371600"/>
            <a:ext cx="10945368"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7" name="Text 2"/>
          <p:cNvSpPr txBox="1"/>
          <p:nvPr/>
        </p:nvSpPr>
        <p:spPr>
          <a:xfrm>
            <a:off x="621792" y="6400800"/>
            <a:ext cx="8686800" cy="274320"/>
          </a:xfrm>
          <a:prstGeom prst="rect">
            <a:avLst/>
          </a:prstGeom>
          <a:noFill/>
          <a:ln/>
        </p:spPr>
        <p:txBody>
          <a:bodyPr wrap="square" lIns="0" tIns="0" rIns="0" bIns="0" rtlCol="0" anchor="ctr"/>
          <a:lstStyle/>
          <a:p>
            <a:pPr indent="0" marL="0">
              <a:buNone/>
            </a:pPr>
            <a:r>
              <a:rPr lang="en-US" sz="1100" dirty="0">
                <a:solidFill>
                  <a:schemeClr val="accent6"/>
                </a:solidFill>
              </a:rPr>
              <a:t>Kremish Borad (12402080601065) | Manan Jivani (12402080601073) | IT-A | Python Project</a:t>
            </a:r>
            <a:endParaRPr lang="en-US" sz="1100" dirty="0"/>
          </a:p>
        </p:txBody>
      </p:sp>
      <p:sp>
        <p:nvSpPr>
          <p:cNvPr id="25" name="Slide Number Placeholder 0"/>
          <p:cNvSpPr>
            <a:spLocks noGrp="1"/>
          </p:cNvSpPr>
          <p:nvPr>
            <p:ph type="sldNum" sz="quarter" idx="4294967295"/>
          </p:nvPr>
        </p:nvSpPr>
        <p:spPr>
          <a:xfrm>
            <a:off x="10652760"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8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52760"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8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slideLayout" Target="../slideLayouts/slideLayout3.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4" type="title" hasCustomPrompt="1"/>
          </p:nvPr>
        </p:nvSpPr>
        <p:spPr>
          <a:xfrm>
            <a:off x="621792" y="1783080"/>
            <a:ext cx="6400800" cy="2103120"/>
          </a:xfrm>
          <a:prstGeom prst="rect">
            <a:avLst/>
          </a:prstGeom>
          <a:noFill/>
          <a:ln/>
        </p:spPr>
        <p:txBody>
          <a:bodyPr wrap="square" lIns="0" tIns="0" rIns="0" bIns="0" rtlCol="0" anchor="t"/>
          <a:lstStyle/>
          <a:p>
            <a:pPr algn="l" indent="0" marL="0">
              <a:buNone/>
            </a:pPr>
            <a:r>
              <a:rPr lang="en-US" sz="4400" b="1" dirty="0">
                <a:solidFill>
                  <a:schemeClr val="tx2"/>
                </a:solidFill>
              </a:rPr>
              <a:t>To-Do List Application Using Python</a:t>
            </a:r>
            <a:endParaRPr lang="en-US" sz="4400" dirty="0"/>
          </a:p>
        </p:txBody>
      </p:sp>
      <p:sp>
        <p:nvSpPr>
          <p:cNvPr id="3" name="Text 1"/>
          <p:cNvSpPr txBox="1"/>
          <p:nvPr/>
        </p:nvSpPr>
        <p:spPr>
          <a:xfrm>
            <a:off x="621792" y="4069080"/>
            <a:ext cx="6309360" cy="868680"/>
          </a:xfrm>
          <a:prstGeom prst="rect">
            <a:avLst/>
          </a:prstGeom>
          <a:noFill/>
          <a:ln/>
        </p:spPr>
        <p:txBody>
          <a:bodyPr wrap="square" lIns="0" tIns="0" rIns="0" bIns="0" rtlCol="0" anchor="t"/>
          <a:lstStyle/>
          <a:p>
            <a:pPr indent="0" marL="0">
              <a:buNone/>
            </a:pPr>
            <a:r>
              <a:rPr lang="en-US" sz="2400" b="1" dirty="0">
                <a:solidFill>
                  <a:schemeClr val="accent1"/>
                </a:solidFill>
              </a:rPr>
              <a:t>Managing daily tasks with Python lists, JSON and Tkinter</a:t>
            </a:r>
            <a:endParaRPr lang="en-US" sz="2400" dirty="0"/>
          </a:p>
        </p:txBody>
      </p:sp>
      <p:sp>
        <p:nvSpPr>
          <p:cNvPr id="4" name="Text 2"/>
          <p:cNvSpPr txBox="1"/>
          <p:nvPr/>
        </p:nvSpPr>
        <p:spPr>
          <a:xfrm>
            <a:off x="621792" y="5074920"/>
            <a:ext cx="6309360" cy="365760"/>
          </a:xfrm>
          <a:prstGeom prst="rect">
            <a:avLst/>
          </a:prstGeom>
          <a:noFill/>
          <a:ln/>
        </p:spPr>
        <p:txBody>
          <a:bodyPr wrap="square" lIns="0" tIns="0" rIns="0" bIns="0" rtlCol="0" anchor="ctr"/>
          <a:lstStyle/>
          <a:p>
            <a:pPr indent="0" marL="0">
              <a:buNone/>
            </a:pPr>
            <a:r>
              <a:rPr lang="en-US" sz="1800" dirty="0">
                <a:solidFill>
                  <a:schemeClr val="tx1"/>
                </a:solidFill>
              </a:rPr>
              <a:t>A college Python project</a:t>
            </a:r>
            <a:endParaRPr lang="en-US" sz="1800" dirty="0"/>
          </a:p>
        </p:txBody>
      </p:sp>
      <p:sp>
        <p:nvSpPr>
          <p:cNvPr id="5" name="Student details panel"/>
          <p:cNvSpPr/>
          <p:nvPr/>
        </p:nvSpPr>
        <p:spPr>
          <a:xfrm>
            <a:off x="7589520" y="1828800"/>
            <a:ext cx="3977640" cy="4343400"/>
          </a:xfrm>
          <a:prstGeom prst="roundRect">
            <a:avLst>
              <a:gd name="adj" fmla="val 3448"/>
            </a:avLst>
          </a:prstGeom>
          <a:solidFill>
            <a:schemeClr val="bg2"/>
          </a:solidFill>
          <a:ln/>
        </p:spPr>
        <p:txBody>
          <a:bodyPr/>
          <a:p/>
        </p:txBody>
      </p:sp>
      <p:sp>
        <p:nvSpPr>
          <p:cNvPr id="8" name="Text 6"/>
          <p:cNvSpPr txBox="1"/>
          <p:nvPr/>
        </p:nvSpPr>
        <p:spPr>
          <a:xfrm>
            <a:off x="7909560" y="2971800"/>
            <a:ext cx="3383280" cy="365760"/>
          </a:xfrm>
          <a:prstGeom prst="rect">
            <a:avLst/>
          </a:prstGeom>
          <a:noFill/>
          <a:ln/>
        </p:spPr>
        <p:txBody>
          <a:bodyPr wrap="square" lIns="0" tIns="0" rIns="0" bIns="0" rtlCol="0" anchor="ctr"/>
          <a:lstStyle/>
          <a:p>
            <a:pPr indent="0" marL="0">
              <a:buNone/>
            </a:pPr>
            <a:r>
              <a:rPr lang="en-US" sz="2200" b="1" dirty="0">
                <a:solidFill>
                  <a:schemeClr val="tx2"/>
                </a:solidFill>
              </a:rPr>
              <a:t>Manan Jivani</a:t>
            </a:r>
            <a:endParaRPr lang="en-US" sz="2200" dirty="0"/>
          </a:p>
        </p:txBody>
      </p:sp>
      <p:sp>
        <p:nvSpPr>
          <p:cNvPr id="9" name="Text 7"/>
          <p:cNvSpPr txBox="1"/>
          <p:nvPr/>
        </p:nvSpPr>
        <p:spPr>
          <a:xfrm>
            <a:off x="7909560" y="3337560"/>
            <a:ext cx="3383280" cy="274320"/>
          </a:xfrm>
          <a:prstGeom prst="rect">
            <a:avLst/>
          </a:prstGeom>
          <a:noFill/>
          <a:ln/>
        </p:spPr>
        <p:txBody>
          <a:bodyPr wrap="square" lIns="0" tIns="0" rIns="0" bIns="0" rtlCol="0" anchor="ctr"/>
          <a:lstStyle/>
          <a:p>
            <a:pPr indent="0" marL="0">
              <a:buNone/>
            </a:pPr>
            <a:r>
              <a:rPr lang="en-US" sz="1400" dirty="0">
                <a:solidFill>
                  <a:schemeClr val="accent6"/>
                </a:solidFill>
              </a:rPr>
              <a:t>Enrollment No. 12402080601073</a:t>
            </a:r>
            <a:endParaRPr lang="en-US" sz="1400" dirty="0"/>
          </a:p>
        </p:txBody>
      </p:sp>
      <p:sp>
        <p:nvSpPr>
          <p:cNvPr id="10" name="Text 8"/>
          <p:cNvSpPr txBox="1"/>
          <p:nvPr/>
        </p:nvSpPr>
        <p:spPr>
          <a:xfrm>
            <a:off x="7909560" y="3931920"/>
            <a:ext cx="3383280" cy="274320"/>
          </a:xfrm>
          <a:prstGeom prst="rect">
            <a:avLst/>
          </a:prstGeom>
          <a:noFill/>
          <a:ln/>
        </p:spPr>
        <p:txBody>
          <a:bodyPr wrap="square" lIns="0" tIns="0" rIns="0" bIns="0" rtlCol="0" anchor="ctr"/>
          <a:lstStyle/>
          <a:p>
            <a:pPr indent="0" marL="0">
              <a:buNone/>
            </a:pPr>
            <a:r>
              <a:rPr lang="en-US" sz="1400" dirty="0">
                <a:solidFill>
                  <a:schemeClr val="accent6"/>
                </a:solidFill>
              </a:rPr>
              <a:t>Class / Subject</a:t>
            </a:r>
            <a:endParaRPr lang="en-US" sz="1400" dirty="0"/>
          </a:p>
        </p:txBody>
      </p:sp>
      <p:sp>
        <p:nvSpPr>
          <p:cNvPr id="11" name="Text 9"/>
          <p:cNvSpPr txBox="1"/>
          <p:nvPr/>
        </p:nvSpPr>
        <p:spPr>
          <a:xfrm>
            <a:off x="7909560" y="4206240"/>
            <a:ext cx="3383280" cy="365760"/>
          </a:xfrm>
          <a:prstGeom prst="rect">
            <a:avLst/>
          </a:prstGeom>
          <a:noFill/>
          <a:ln/>
        </p:spPr>
        <p:txBody>
          <a:bodyPr wrap="square" lIns="0" tIns="0" rIns="0" bIns="0" rtlCol="0" anchor="ctr"/>
          <a:lstStyle/>
          <a:p>
            <a:pPr indent="0" marL="0">
              <a:buNone/>
            </a:pPr>
            <a:r>
              <a:rPr lang="en-US" sz="1800" b="1" dirty="0">
                <a:solidFill>
                  <a:schemeClr val="tx2"/>
                </a:solidFill>
              </a:rPr>
              <a:t>IT-A | Python Project</a:t>
            </a:r>
            <a:endParaRPr lang="en-US" sz="1800" dirty="0"/>
          </a:p>
        </p:txBody>
      </p:sp>
      <p:sp>
        <p:nvSpPr>
          <p:cNvPr id="12" name="Text 10"/>
          <p:cNvSpPr txBox="1"/>
          <p:nvPr/>
        </p:nvSpPr>
        <p:spPr>
          <a:xfrm>
            <a:off x="7909560" y="4846320"/>
            <a:ext cx="3383280" cy="274320"/>
          </a:xfrm>
          <a:prstGeom prst="rect">
            <a:avLst/>
          </a:prstGeom>
          <a:noFill/>
          <a:ln/>
        </p:spPr>
        <p:txBody>
          <a:bodyPr wrap="square" lIns="0" tIns="0" rIns="0" bIns="0" rtlCol="0" anchor="ctr"/>
          <a:lstStyle/>
          <a:p>
            <a:pPr indent="0" marL="0">
              <a:buNone/>
            </a:pPr>
            <a:r>
              <a:rPr lang="en-US" sz="1400" dirty="0">
                <a:solidFill>
                  <a:schemeClr val="accent6"/>
                </a:solidFill>
              </a:rPr>
              <a:t>College</a:t>
            </a:r>
            <a:endParaRPr lang="en-US" sz="1400" dirty="0"/>
          </a:p>
        </p:txBody>
      </p:sp>
      <p:sp>
        <p:nvSpPr>
          <p:cNvPr id="13" name="Text 11"/>
          <p:cNvSpPr txBox="1"/>
          <p:nvPr/>
        </p:nvSpPr>
        <p:spPr>
          <a:xfrm>
            <a:off x="7909560" y="5120640"/>
            <a:ext cx="3383280" cy="685800"/>
          </a:xfrm>
          <a:prstGeom prst="rect">
            <a:avLst/>
          </a:prstGeom>
          <a:noFill/>
          <a:ln/>
        </p:spPr>
        <p:txBody>
          <a:bodyPr wrap="square" lIns="0" tIns="0" rIns="0" bIns="0" rtlCol="0" anchor="t"/>
          <a:lstStyle/>
          <a:p>
            <a:pPr indent="0" marL="0">
              <a:buNone/>
            </a:pPr>
            <a:r>
              <a:rPr lang="en-US" sz="1700" b="1" dirty="0">
                <a:solidFill>
                  <a:schemeClr val="tx2"/>
                </a:solidFill>
              </a:rPr>
              <a:t>A D Patel Institute Of Technology, CVM University</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4" type="title" hasCustomPrompt="1"/>
          </p:nvPr>
        </p:nvSpPr>
        <p:spPr>
          <a:xfrm>
            <a:off x="621792" y="1371600"/>
            <a:ext cx="10945368" cy="731520"/>
          </a:xfrm>
          <a:prstGeom prst="rect">
            <a:avLst/>
          </a:prstGeom>
          <a:noFill/>
          <a:ln/>
        </p:spPr>
        <p:txBody>
          <a:bodyPr wrap="square" lIns="0" tIns="0" rIns="0" bIns="0" rtlCol="0" anchor="ctr"/>
          <a:lstStyle/>
          <a:p>
            <a:pPr algn="l" indent="0" marL="0">
              <a:buNone/>
            </a:pPr>
            <a:r>
              <a:rPr lang="en-US" sz="3600" b="1" dirty="0">
                <a:solidFill>
                  <a:schemeClr val="tx2"/>
                </a:solidFill>
              </a:rPr>
              <a:t>Introduction</a:t>
            </a:r>
            <a:endParaRPr lang="en-US" sz="3600" dirty="0"/>
          </a:p>
        </p:txBody>
      </p:sp>
      <p:sp>
        <p:nvSpPr>
          <p:cNvPr id="3" name="Text 1"/>
          <p:cNvSpPr txBox="1"/>
          <p:nvPr/>
        </p:nvSpPr>
        <p:spPr>
          <a:xfrm>
            <a:off x="621792" y="2240280"/>
            <a:ext cx="6126480" cy="411480"/>
          </a:xfrm>
          <a:prstGeom prst="rect">
            <a:avLst/>
          </a:prstGeom>
          <a:noFill/>
          <a:ln/>
        </p:spPr>
        <p:txBody>
          <a:bodyPr wrap="square" lIns="0" tIns="0" rIns="0" bIns="0" rtlCol="0" anchor="ctr"/>
          <a:lstStyle/>
          <a:p>
            <a:pPr indent="0" marL="0">
              <a:buNone/>
            </a:pPr>
            <a:r>
              <a:rPr lang="en-US" sz="2000" b="1" dirty="0">
                <a:solidFill>
                  <a:schemeClr val="accent1"/>
                </a:solidFill>
              </a:rPr>
              <a:t>One place to plan, track and finish your tasks.</a:t>
            </a:r>
            <a:endParaRPr lang="en-US" sz="2000" dirty="0"/>
          </a:p>
        </p:txBody>
      </p:sp>
      <p:sp>
        <p:nvSpPr>
          <p:cNvPr id="4" name="Text 2"/>
          <p:cNvSpPr txBox="1"/>
          <p:nvPr/>
        </p:nvSpPr>
        <p:spPr>
          <a:xfrm>
            <a:off x="621792" y="2788920"/>
            <a:ext cx="6126480" cy="2103120"/>
          </a:xfrm>
          <a:prstGeom prst="rect">
            <a:avLst/>
          </a:prstGeom>
          <a:noFill/>
          <a:ln/>
        </p:spPr>
        <p:txBody>
          <a:bodyPr wrap="square" lIns="0" tIns="0" rIns="0" bIns="0" rtlCol="0" anchor="t"/>
          <a:lstStyle/>
          <a:p>
            <a:pPr marL="254000" indent="-254000">
              <a:spcAft>
                <a:spcPts val="1200"/>
              </a:spcAft>
              <a:buSzPct val="100000"/>
              <a:buChar char="•"/>
            </a:pPr>
            <a:r>
              <a:rPr lang="en-US" sz="1800" b="1" dirty="0">
                <a:solidFill>
                  <a:schemeClr val="tx1"/>
                </a:solidFill>
              </a:rPr>
              <a:t>What: </a:t>
            </a:r>
            <a:pPr indent="0" marL="0">
              <a:spcAft>
                <a:spcPts val="1200"/>
              </a:spcAft>
              <a:buNone/>
            </a:pPr>
            <a:r>
              <a:rPr lang="en-US" sz="1800" dirty="0">
                <a:solidFill>
                  <a:schemeClr val="tx1"/>
                </a:solidFill>
              </a:rPr>
              <a:t>a desktop app to manage daily tasks</a:t>
            </a:r>
            <a:endParaRPr lang="en-US" sz="1800" dirty="0"/>
          </a:p>
          <a:p>
            <a:pPr marL="254000" indent="-254000">
              <a:spcAft>
                <a:spcPts val="1200"/>
              </a:spcAft>
              <a:buSzPct val="100000"/>
              <a:buChar char="•"/>
            </a:pPr>
            <a:r>
              <a:rPr lang="en-US" sz="1800" b="1" dirty="0">
                <a:solidFill>
                  <a:schemeClr val="tx1"/>
                </a:solidFill>
              </a:rPr>
              <a:t>Why: </a:t>
            </a:r>
            <a:pPr indent="0" marL="0">
              <a:spcAft>
                <a:spcPts val="1200"/>
              </a:spcAft>
              <a:buNone/>
            </a:pPr>
            <a:r>
              <a:rPr lang="en-US" sz="1800" dirty="0">
                <a:solidFill>
                  <a:schemeClr val="tx1"/>
                </a:solidFill>
              </a:rPr>
              <a:t>replaces paper lists and memory</a:t>
            </a:r>
            <a:endParaRPr lang="en-US" sz="1800" dirty="0"/>
          </a:p>
          <a:p>
            <a:pPr marL="254000" indent="-254000">
              <a:spcAft>
                <a:spcPts val="1200"/>
              </a:spcAft>
              <a:buSzPct val="100000"/>
              <a:buChar char="•"/>
            </a:pPr>
            <a:r>
              <a:rPr lang="en-US" sz="1800" b="1" dirty="0">
                <a:solidFill>
                  <a:schemeClr val="tx1"/>
                </a:solidFill>
              </a:rPr>
              <a:t>How: </a:t>
            </a:r>
            <a:pPr indent="0" marL="0">
              <a:spcAft>
                <a:spcPts val="1200"/>
              </a:spcAft>
              <a:buNone/>
            </a:pPr>
            <a:r>
              <a:rPr lang="en-US" sz="1800" dirty="0">
                <a:solidFill>
                  <a:schemeClr val="tx1"/>
                </a:solidFill>
              </a:rPr>
              <a:t>add, view, complete and delete tasks in one window</a:t>
            </a:r>
            <a:endParaRPr lang="en-US" sz="1800" dirty="0"/>
          </a:p>
          <a:p>
            <a:pPr marL="254000" indent="-254000">
              <a:spcAft>
                <a:spcPts val="1200"/>
              </a:spcAft>
              <a:buSzPct val="100000"/>
              <a:buChar char="•"/>
            </a:pPr>
            <a:r>
              <a:rPr lang="en-US" sz="1800" b="1" dirty="0">
                <a:solidFill>
                  <a:schemeClr val="tx1"/>
                </a:solidFill>
              </a:rPr>
              <a:t>Saved: </a:t>
            </a:r>
            <a:pPr indent="0" marL="0">
              <a:spcAft>
                <a:spcPts val="1200"/>
              </a:spcAft>
              <a:buNone/>
            </a:pPr>
            <a:r>
              <a:rPr lang="en-US" sz="1800" dirty="0">
                <a:solidFill>
                  <a:schemeClr val="tx1"/>
                </a:solidFill>
              </a:rPr>
              <a:t>tasks stay in a JSON file after closing</a:t>
            </a:r>
            <a:endParaRPr lang="en-US" sz="1800" dirty="0"/>
          </a:p>
        </p:txBody>
      </p:sp>
      <p:sp>
        <p:nvSpPr>
          <p:cNvPr id="5" name="Callout"/>
          <p:cNvSpPr/>
          <p:nvPr/>
        </p:nvSpPr>
        <p:spPr>
          <a:xfrm>
            <a:off x="621792" y="5074920"/>
            <a:ext cx="6126480" cy="777240"/>
          </a:xfrm>
          <a:prstGeom prst="roundRect">
            <a:avLst>
              <a:gd name="adj" fmla="val 17647"/>
            </a:avLst>
          </a:prstGeom>
          <a:solidFill>
            <a:schemeClr val="bg2"/>
          </a:solidFill>
          <a:ln/>
        </p:spPr>
      </p:sp>
      <p:sp>
        <p:nvSpPr>
          <p:cNvPr id="6" name="Callout circle"/>
          <p:cNvSpPr/>
          <p:nvPr/>
        </p:nvSpPr>
        <p:spPr>
          <a:xfrm>
            <a:off x="850392" y="5189220"/>
            <a:ext cx="548640" cy="548640"/>
          </a:xfrm>
          <a:prstGeom prst="ellipse">
            <a:avLst/>
          </a:prstGeom>
          <a:solidFill>
            <a:schemeClr val="accent4"/>
          </a:solidFill>
          <a:ln/>
        </p:spPr>
      </p:sp>
      <p:pic>
        <p:nvPicPr>
          <p:cNvPr id="7" name="Image 0" descr="Callout icon">    </p:cNvPr>
          <p:cNvPicPr>
            <a:picLocks noChangeAspect="1"/>
          </p:cNvPicPr>
          <p:nvPr/>
        </p:nvPicPr>
        <p:blipFill>
          <a:blip r:embed="rId1"/>
          <a:stretch>
            <a:fillRect/>
          </a:stretch>
        </p:blipFill>
        <p:spPr>
          <a:xfrm>
            <a:off x="998525" y="5337353"/>
            <a:ext cx="252374" cy="252374"/>
          </a:xfrm>
          <a:prstGeom prst="rect">
            <a:avLst/>
          </a:prstGeom>
        </p:spPr>
      </p:pic>
      <p:sp>
        <p:nvSpPr>
          <p:cNvPr id="8" name="Text 5"/>
          <p:cNvSpPr txBox="1"/>
          <p:nvPr/>
        </p:nvSpPr>
        <p:spPr>
          <a:xfrm>
            <a:off x="1627632" y="5074920"/>
            <a:ext cx="4937760" cy="777240"/>
          </a:xfrm>
          <a:prstGeom prst="rect">
            <a:avLst/>
          </a:prstGeom>
          <a:noFill/>
          <a:ln/>
        </p:spPr>
        <p:txBody>
          <a:bodyPr wrap="square" lIns="0" tIns="0" rIns="0" bIns="0" rtlCol="0" anchor="ctr"/>
          <a:lstStyle/>
          <a:p>
            <a:pPr indent="0" marL="0">
              <a:buNone/>
            </a:pPr>
            <a:r>
              <a:rPr lang="en-US" sz="1700" b="1" dirty="0">
                <a:solidFill>
                  <a:schemeClr val="tx2"/>
                </a:solidFill>
              </a:rPr>
              <a:t>A simple app that practises lists, files and GUI.</a:t>
            </a:r>
            <a:endParaRPr lang="en-US" sz="1700" dirty="0"/>
          </a:p>
        </p:txBody>
      </p:sp>
      <p:sp>
        <p:nvSpPr>
          <p:cNvPr id="9" name="Concept panel"/>
          <p:cNvSpPr/>
          <p:nvPr/>
        </p:nvSpPr>
        <p:spPr>
          <a:xfrm>
            <a:off x="7223760" y="2240280"/>
            <a:ext cx="4343400" cy="3611880"/>
          </a:xfrm>
          <a:prstGeom prst="roundRect">
            <a:avLst>
              <a:gd name="adj" fmla="val 3797"/>
            </a:avLst>
          </a:prstGeom>
          <a:solidFill>
            <a:schemeClr val="bg2"/>
          </a:solidFill>
          <a:ln/>
        </p:spPr>
      </p:sp>
      <p:sp>
        <p:nvSpPr>
          <p:cNvPr id="10" name="Concept window"/>
          <p:cNvSpPr/>
          <p:nvPr/>
        </p:nvSpPr>
        <p:spPr>
          <a:xfrm>
            <a:off x="7498080" y="2468880"/>
            <a:ext cx="3794760" cy="3154680"/>
          </a:xfrm>
          <a:prstGeom prst="roundRect">
            <a:avLst>
              <a:gd name="adj" fmla="val 4348"/>
            </a:avLst>
          </a:prstGeom>
          <a:solidFill>
            <a:schemeClr val="bg1"/>
          </a:solidFill>
          <a:ln/>
        </p:spPr>
      </p:sp>
      <p:sp>
        <p:nvSpPr>
          <p:cNvPr id="11" name="Text 8"/>
          <p:cNvSpPr txBox="1"/>
          <p:nvPr/>
        </p:nvSpPr>
        <p:spPr>
          <a:xfrm>
            <a:off x="7772400" y="2606040"/>
            <a:ext cx="3200400" cy="365760"/>
          </a:xfrm>
          <a:prstGeom prst="rect">
            <a:avLst/>
          </a:prstGeom>
          <a:noFill/>
          <a:ln/>
        </p:spPr>
        <p:txBody>
          <a:bodyPr wrap="square" lIns="0" tIns="0" rIns="0" bIns="0" rtlCol="0" anchor="ctr"/>
          <a:lstStyle/>
          <a:p>
            <a:pPr indent="0" marL="0">
              <a:buNone/>
            </a:pPr>
            <a:r>
              <a:rPr lang="en-US" sz="1800" b="1" dirty="0">
                <a:solidFill>
                  <a:schemeClr val="tx2"/>
                </a:solidFill>
              </a:rPr>
              <a:t>My Tasks</a:t>
            </a:r>
            <a:endParaRPr lang="en-US" sz="1800" dirty="0"/>
          </a:p>
        </p:txBody>
      </p:sp>
      <p:sp>
        <p:nvSpPr>
          <p:cNvPr id="12" name="Concept row mark 1"/>
          <p:cNvSpPr/>
          <p:nvPr/>
        </p:nvSpPr>
        <p:spPr>
          <a:xfrm>
            <a:off x="7772400" y="3145536"/>
            <a:ext cx="274320" cy="274320"/>
          </a:xfrm>
          <a:prstGeom prst="ellipse">
            <a:avLst/>
          </a:prstGeom>
          <a:solidFill>
            <a:schemeClr val="accent5"/>
          </a:solidFill>
          <a:ln w="19050">
            <a:solidFill>
              <a:schemeClr val="accent5"/>
            </a:solidFill>
            <a:prstDash val="solid"/>
          </a:ln>
        </p:spPr>
      </p:sp>
      <p:sp>
        <p:nvSpPr>
          <p:cNvPr id="13" name="Concept row bar 1"/>
          <p:cNvSpPr/>
          <p:nvPr/>
        </p:nvSpPr>
        <p:spPr>
          <a:xfrm>
            <a:off x="8183880" y="3182112"/>
            <a:ext cx="2194560" cy="201168"/>
          </a:xfrm>
          <a:prstGeom prst="roundRect">
            <a:avLst>
              <a:gd name="adj" fmla="val 45455"/>
            </a:avLst>
          </a:prstGeom>
          <a:solidFill>
            <a:schemeClr val="bg2"/>
          </a:solidFill>
          <a:ln/>
        </p:spPr>
      </p:sp>
      <p:sp>
        <p:nvSpPr>
          <p:cNvPr id="14" name="Concept row mark 2"/>
          <p:cNvSpPr/>
          <p:nvPr/>
        </p:nvSpPr>
        <p:spPr>
          <a:xfrm>
            <a:off x="7772400" y="3621024"/>
            <a:ext cx="274320" cy="274320"/>
          </a:xfrm>
          <a:prstGeom prst="ellipse">
            <a:avLst/>
          </a:prstGeom>
          <a:solidFill>
            <a:schemeClr val="accent5"/>
          </a:solidFill>
          <a:ln w="19050">
            <a:solidFill>
              <a:schemeClr val="accent5"/>
            </a:solidFill>
            <a:prstDash val="solid"/>
          </a:ln>
        </p:spPr>
      </p:sp>
      <p:sp>
        <p:nvSpPr>
          <p:cNvPr id="15" name="Concept row bar 2"/>
          <p:cNvSpPr/>
          <p:nvPr/>
        </p:nvSpPr>
        <p:spPr>
          <a:xfrm>
            <a:off x="8183880" y="3657600"/>
            <a:ext cx="1737360" cy="201168"/>
          </a:xfrm>
          <a:prstGeom prst="roundRect">
            <a:avLst>
              <a:gd name="adj" fmla="val 45455"/>
            </a:avLst>
          </a:prstGeom>
          <a:solidFill>
            <a:schemeClr val="bg2"/>
          </a:solidFill>
          <a:ln/>
        </p:spPr>
      </p:sp>
      <p:sp>
        <p:nvSpPr>
          <p:cNvPr id="16" name="Concept row mark 3"/>
          <p:cNvSpPr/>
          <p:nvPr/>
        </p:nvSpPr>
        <p:spPr>
          <a:xfrm>
            <a:off x="7772400" y="4096512"/>
            <a:ext cx="274320" cy="274320"/>
          </a:xfrm>
          <a:prstGeom prst="ellipse">
            <a:avLst/>
          </a:prstGeom>
          <a:solidFill>
            <a:schemeClr val="bg2"/>
          </a:solidFill>
          <a:ln w="19050">
            <a:solidFill>
              <a:schemeClr val="accent6"/>
            </a:solidFill>
            <a:prstDash val="solid"/>
          </a:ln>
        </p:spPr>
      </p:sp>
      <p:sp>
        <p:nvSpPr>
          <p:cNvPr id="17" name="Concept row bar 3"/>
          <p:cNvSpPr/>
          <p:nvPr/>
        </p:nvSpPr>
        <p:spPr>
          <a:xfrm>
            <a:off x="8183880" y="4133088"/>
            <a:ext cx="2560320" cy="201168"/>
          </a:xfrm>
          <a:prstGeom prst="roundRect">
            <a:avLst>
              <a:gd name="adj" fmla="val 45455"/>
            </a:avLst>
          </a:prstGeom>
          <a:solidFill>
            <a:schemeClr val="bg2"/>
          </a:solidFill>
          <a:ln/>
        </p:spPr>
      </p:sp>
      <p:sp>
        <p:nvSpPr>
          <p:cNvPr id="18" name="Concept row mark 4"/>
          <p:cNvSpPr/>
          <p:nvPr/>
        </p:nvSpPr>
        <p:spPr>
          <a:xfrm>
            <a:off x="7772400" y="4572000"/>
            <a:ext cx="274320" cy="274320"/>
          </a:xfrm>
          <a:prstGeom prst="ellipse">
            <a:avLst/>
          </a:prstGeom>
          <a:solidFill>
            <a:schemeClr val="bg2"/>
          </a:solidFill>
          <a:ln w="19050">
            <a:solidFill>
              <a:schemeClr val="accent6"/>
            </a:solidFill>
            <a:prstDash val="solid"/>
          </a:ln>
        </p:spPr>
      </p:sp>
      <p:sp>
        <p:nvSpPr>
          <p:cNvPr id="19" name="Concept row bar 4"/>
          <p:cNvSpPr/>
          <p:nvPr/>
        </p:nvSpPr>
        <p:spPr>
          <a:xfrm>
            <a:off x="8183880" y="4608576"/>
            <a:ext cx="1920240" cy="201168"/>
          </a:xfrm>
          <a:prstGeom prst="roundRect">
            <a:avLst>
              <a:gd name="adj" fmla="val 45455"/>
            </a:avLst>
          </a:prstGeom>
          <a:solidFill>
            <a:schemeClr val="bg2"/>
          </a:solidFill>
          <a:ln/>
        </p:spPr>
      </p:sp>
      <p:sp>
        <p:nvSpPr>
          <p:cNvPr id="20" name="Concept button"/>
          <p:cNvSpPr/>
          <p:nvPr/>
        </p:nvSpPr>
        <p:spPr>
          <a:xfrm>
            <a:off x="7772400" y="5074920"/>
            <a:ext cx="3246120" cy="384048"/>
          </a:xfrm>
          <a:prstGeom prst="roundRect">
            <a:avLst>
              <a:gd name="adj" fmla="val 19048"/>
            </a:avLst>
          </a:prstGeom>
          <a:solidFill>
            <a:schemeClr val="tx2"/>
          </a:solidFill>
          <a:ln/>
        </p:spPr>
      </p:sp>
      <p:sp>
        <p:nvSpPr>
          <p:cNvPr id="21" name="Text 18"/>
          <p:cNvSpPr txBox="1"/>
          <p:nvPr/>
        </p:nvSpPr>
        <p:spPr>
          <a:xfrm>
            <a:off x="7223760" y="5943600"/>
            <a:ext cx="4343400" cy="274320"/>
          </a:xfrm>
          <a:prstGeom prst="rect">
            <a:avLst/>
          </a:prstGeom>
          <a:noFill/>
          <a:ln/>
        </p:spPr>
        <p:txBody>
          <a:bodyPr wrap="square" lIns="0" tIns="0" rIns="0" bIns="0" rtlCol="0" anchor="ctr"/>
          <a:lstStyle/>
          <a:p>
            <a:pPr algn="ctr" indent="0" marL="0">
              <a:buNone/>
            </a:pPr>
            <a:r>
              <a:rPr lang="en-US" sz="1200" i="1" dirty="0">
                <a:solidFill>
                  <a:schemeClr val="accent6"/>
                </a:solidFill>
              </a:rPr>
              <a:t>Concept illustration only</a:t>
            </a:r>
            <a:endParaRPr lang="en-US" sz="1200" dirty="0"/>
          </a:p>
        </p:txBody>
      </p:sp>
      <p:sp>
        <p:nvSpPr>
          <p:cNvPr id="25" name="Slide Number Placeholder 0"/>
          <p:cNvSpPr>
            <a:spLocks noGrp="1"/>
          </p:cNvSpPr>
          <p:nvPr>
            <p:ph type="sldNum" sz="quarter" idx="4294967295"/>
          </p:nvPr>
        </p:nvSpPr>
        <p:spPr>
          <a:xfrm>
            <a:off x="10652760"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8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4" type="title" hasCustomPrompt="1"/>
          </p:nvPr>
        </p:nvSpPr>
        <p:spPr>
          <a:xfrm>
            <a:off x="621792" y="1371600"/>
            <a:ext cx="10945368" cy="731520"/>
          </a:xfrm>
          <a:prstGeom prst="rect">
            <a:avLst/>
          </a:prstGeom>
          <a:noFill/>
          <a:ln/>
        </p:spPr>
        <p:txBody>
          <a:bodyPr wrap="square" lIns="0" tIns="0" rIns="0" bIns="0" rtlCol="0" anchor="ctr"/>
          <a:lstStyle/>
          <a:p>
            <a:pPr algn="l" indent="0" marL="0">
              <a:buNone/>
            </a:pPr>
            <a:r>
              <a:rPr lang="en-US" sz="3600" b="1" dirty="0">
                <a:solidFill>
                  <a:schemeClr val="tx2"/>
                </a:solidFill>
              </a:rPr>
              <a:t>Problem Statement</a:t>
            </a:r>
            <a:endParaRPr lang="en-US" sz="3600" dirty="0"/>
          </a:p>
        </p:txBody>
      </p:sp>
      <p:sp>
        <p:nvSpPr>
          <p:cNvPr id="3" name="Problem card 1"/>
          <p:cNvSpPr/>
          <p:nvPr/>
        </p:nvSpPr>
        <p:spPr>
          <a:xfrm>
            <a:off x="621792" y="2240280"/>
            <a:ext cx="5349240" cy="1417320"/>
          </a:xfrm>
          <a:prstGeom prst="roundRect">
            <a:avLst>
              <a:gd name="adj" fmla="val 9677"/>
            </a:avLst>
          </a:prstGeom>
          <a:solidFill>
            <a:schemeClr val="bg2"/>
          </a:solidFill>
          <a:ln/>
        </p:spPr>
      </p:sp>
      <p:sp>
        <p:nvSpPr>
          <p:cNvPr id="4" name="Tasks Get Forgotten circle"/>
          <p:cNvSpPr/>
          <p:nvPr/>
        </p:nvSpPr>
        <p:spPr>
          <a:xfrm>
            <a:off x="896112" y="2587752"/>
            <a:ext cx="731520" cy="731520"/>
          </a:xfrm>
          <a:prstGeom prst="ellipse">
            <a:avLst/>
          </a:prstGeom>
          <a:solidFill>
            <a:schemeClr val="accent2"/>
          </a:solidFill>
          <a:ln/>
        </p:spPr>
      </p:sp>
      <p:pic>
        <p:nvPicPr>
          <p:cNvPr id="5" name="Image 0" descr="Tasks Get Forgotten icon">    </p:cNvPr>
          <p:cNvPicPr>
            <a:picLocks noChangeAspect="1"/>
          </p:cNvPicPr>
          <p:nvPr/>
        </p:nvPicPr>
        <p:blipFill>
          <a:blip r:embed="rId1"/>
          <a:stretch>
            <a:fillRect/>
          </a:stretch>
        </p:blipFill>
        <p:spPr>
          <a:xfrm>
            <a:off x="1093622" y="2785262"/>
            <a:ext cx="336499" cy="336499"/>
          </a:xfrm>
          <a:prstGeom prst="rect">
            <a:avLst/>
          </a:prstGeom>
        </p:spPr>
      </p:pic>
      <p:sp>
        <p:nvSpPr>
          <p:cNvPr id="6" name="Text 3"/>
          <p:cNvSpPr txBox="1"/>
          <p:nvPr/>
        </p:nvSpPr>
        <p:spPr>
          <a:xfrm>
            <a:off x="1901952" y="2496312"/>
            <a:ext cx="3840480" cy="365760"/>
          </a:xfrm>
          <a:prstGeom prst="rect">
            <a:avLst/>
          </a:prstGeom>
          <a:noFill/>
          <a:ln/>
        </p:spPr>
        <p:txBody>
          <a:bodyPr wrap="square" lIns="0" tIns="0" rIns="0" bIns="0" rtlCol="0" anchor="ctr"/>
          <a:lstStyle/>
          <a:p>
            <a:pPr indent="0" marL="0">
              <a:buNone/>
            </a:pPr>
            <a:r>
              <a:rPr lang="en-US" sz="2000" b="1" dirty="0">
                <a:solidFill>
                  <a:schemeClr val="tx2"/>
                </a:solidFill>
              </a:rPr>
              <a:t>Tasks Get Forgotten</a:t>
            </a:r>
            <a:endParaRPr lang="en-US" sz="2000" dirty="0"/>
          </a:p>
        </p:txBody>
      </p:sp>
      <p:sp>
        <p:nvSpPr>
          <p:cNvPr id="7" name="Text 4"/>
          <p:cNvSpPr txBox="1"/>
          <p:nvPr/>
        </p:nvSpPr>
        <p:spPr>
          <a:xfrm>
            <a:off x="1901952" y="2898648"/>
            <a:ext cx="3840480" cy="548640"/>
          </a:xfrm>
          <a:prstGeom prst="rect">
            <a:avLst/>
          </a:prstGeom>
          <a:noFill/>
          <a:ln/>
        </p:spPr>
        <p:txBody>
          <a:bodyPr wrap="square" lIns="0" tIns="0" rIns="0" bIns="0" rtlCol="0" anchor="t"/>
          <a:lstStyle/>
          <a:p>
            <a:pPr indent="0" marL="0">
              <a:buNone/>
            </a:pPr>
            <a:r>
              <a:rPr lang="en-US" sz="1500" dirty="0">
                <a:solidFill>
                  <a:schemeClr val="tx1"/>
                </a:solidFill>
              </a:rPr>
              <a:t>Plans kept only in memory are easy to miss.</a:t>
            </a:r>
            <a:endParaRPr lang="en-US" sz="1500" dirty="0"/>
          </a:p>
        </p:txBody>
      </p:sp>
      <p:sp>
        <p:nvSpPr>
          <p:cNvPr id="8" name="Problem card 2"/>
          <p:cNvSpPr/>
          <p:nvPr/>
        </p:nvSpPr>
        <p:spPr>
          <a:xfrm>
            <a:off x="6217920" y="2240280"/>
            <a:ext cx="5349240" cy="1417320"/>
          </a:xfrm>
          <a:prstGeom prst="roundRect">
            <a:avLst>
              <a:gd name="adj" fmla="val 9677"/>
            </a:avLst>
          </a:prstGeom>
          <a:solidFill>
            <a:schemeClr val="bg2"/>
          </a:solidFill>
          <a:ln/>
        </p:spPr>
      </p:sp>
      <p:sp>
        <p:nvSpPr>
          <p:cNvPr id="9" name="Paper Notes Get Lost circle"/>
          <p:cNvSpPr/>
          <p:nvPr/>
        </p:nvSpPr>
        <p:spPr>
          <a:xfrm>
            <a:off x="6492240" y="2587752"/>
            <a:ext cx="731520" cy="731520"/>
          </a:xfrm>
          <a:prstGeom prst="ellipse">
            <a:avLst/>
          </a:prstGeom>
          <a:solidFill>
            <a:schemeClr val="accent1"/>
          </a:solidFill>
          <a:ln/>
        </p:spPr>
      </p:sp>
      <p:pic>
        <p:nvPicPr>
          <p:cNvPr id="10" name="Image 1" descr="Paper Notes Get Lost icon">    </p:cNvPr>
          <p:cNvPicPr>
            <a:picLocks noChangeAspect="1"/>
          </p:cNvPicPr>
          <p:nvPr/>
        </p:nvPicPr>
        <p:blipFill>
          <a:blip r:embed="rId2"/>
          <a:stretch>
            <a:fillRect/>
          </a:stretch>
        </p:blipFill>
        <p:spPr>
          <a:xfrm>
            <a:off x="6689750" y="2785262"/>
            <a:ext cx="336499" cy="336499"/>
          </a:xfrm>
          <a:prstGeom prst="rect">
            <a:avLst/>
          </a:prstGeom>
        </p:spPr>
      </p:pic>
      <p:sp>
        <p:nvSpPr>
          <p:cNvPr id="11" name="Text 7"/>
          <p:cNvSpPr txBox="1"/>
          <p:nvPr/>
        </p:nvSpPr>
        <p:spPr>
          <a:xfrm>
            <a:off x="7498080" y="2496312"/>
            <a:ext cx="3840480" cy="365760"/>
          </a:xfrm>
          <a:prstGeom prst="rect">
            <a:avLst/>
          </a:prstGeom>
          <a:noFill/>
          <a:ln/>
        </p:spPr>
        <p:txBody>
          <a:bodyPr wrap="square" lIns="0" tIns="0" rIns="0" bIns="0" rtlCol="0" anchor="ctr"/>
          <a:lstStyle/>
          <a:p>
            <a:pPr indent="0" marL="0">
              <a:buNone/>
            </a:pPr>
            <a:r>
              <a:rPr lang="en-US" sz="2000" b="1" dirty="0">
                <a:solidFill>
                  <a:schemeClr val="tx2"/>
                </a:solidFill>
              </a:rPr>
              <a:t>Paper Notes Get Lost</a:t>
            </a:r>
            <a:endParaRPr lang="en-US" sz="2000" dirty="0"/>
          </a:p>
        </p:txBody>
      </p:sp>
      <p:sp>
        <p:nvSpPr>
          <p:cNvPr id="12" name="Text 8"/>
          <p:cNvSpPr txBox="1"/>
          <p:nvPr/>
        </p:nvSpPr>
        <p:spPr>
          <a:xfrm>
            <a:off x="7498080" y="2898648"/>
            <a:ext cx="3840480" cy="548640"/>
          </a:xfrm>
          <a:prstGeom prst="rect">
            <a:avLst/>
          </a:prstGeom>
          <a:noFill/>
          <a:ln/>
        </p:spPr>
        <p:txBody>
          <a:bodyPr wrap="square" lIns="0" tIns="0" rIns="0" bIns="0" rtlCol="0" anchor="t"/>
          <a:lstStyle/>
          <a:p>
            <a:pPr indent="0" marL="0">
              <a:buNone/>
            </a:pPr>
            <a:r>
              <a:rPr lang="en-US" sz="1500" dirty="0">
                <a:solidFill>
                  <a:schemeClr val="tx1"/>
                </a:solidFill>
              </a:rPr>
              <a:t>Sticky notes and pages can be misplaced.</a:t>
            </a:r>
            <a:endParaRPr lang="en-US" sz="1500" dirty="0"/>
          </a:p>
        </p:txBody>
      </p:sp>
      <p:sp>
        <p:nvSpPr>
          <p:cNvPr id="13" name="Problem card 3"/>
          <p:cNvSpPr/>
          <p:nvPr/>
        </p:nvSpPr>
        <p:spPr>
          <a:xfrm>
            <a:off x="621792" y="3886200"/>
            <a:ext cx="5349240" cy="1417320"/>
          </a:xfrm>
          <a:prstGeom prst="roundRect">
            <a:avLst>
              <a:gd name="adj" fmla="val 9677"/>
            </a:avLst>
          </a:prstGeom>
          <a:solidFill>
            <a:schemeClr val="bg2"/>
          </a:solidFill>
          <a:ln/>
        </p:spPr>
      </p:sp>
      <p:sp>
        <p:nvSpPr>
          <p:cNvPr id="14" name="Progress Is Unclear circle"/>
          <p:cNvSpPr/>
          <p:nvPr/>
        </p:nvSpPr>
        <p:spPr>
          <a:xfrm>
            <a:off x="896112" y="4233672"/>
            <a:ext cx="731520" cy="731520"/>
          </a:xfrm>
          <a:prstGeom prst="ellipse">
            <a:avLst/>
          </a:prstGeom>
          <a:solidFill>
            <a:schemeClr val="accent2"/>
          </a:solidFill>
          <a:ln/>
        </p:spPr>
      </p:sp>
      <p:pic>
        <p:nvPicPr>
          <p:cNvPr id="15" name="Image 2" descr="Progress Is Unclear icon">    </p:cNvPr>
          <p:cNvPicPr>
            <a:picLocks noChangeAspect="1"/>
          </p:cNvPicPr>
          <p:nvPr/>
        </p:nvPicPr>
        <p:blipFill>
          <a:blip r:embed="rId3"/>
          <a:stretch>
            <a:fillRect/>
          </a:stretch>
        </p:blipFill>
        <p:spPr>
          <a:xfrm>
            <a:off x="1093622" y="4431182"/>
            <a:ext cx="336499" cy="336499"/>
          </a:xfrm>
          <a:prstGeom prst="rect">
            <a:avLst/>
          </a:prstGeom>
        </p:spPr>
      </p:pic>
      <p:sp>
        <p:nvSpPr>
          <p:cNvPr id="16" name="Text 11"/>
          <p:cNvSpPr txBox="1"/>
          <p:nvPr/>
        </p:nvSpPr>
        <p:spPr>
          <a:xfrm>
            <a:off x="1901952" y="4142232"/>
            <a:ext cx="3840480" cy="365760"/>
          </a:xfrm>
          <a:prstGeom prst="rect">
            <a:avLst/>
          </a:prstGeom>
          <a:noFill/>
          <a:ln/>
        </p:spPr>
        <p:txBody>
          <a:bodyPr wrap="square" lIns="0" tIns="0" rIns="0" bIns="0" rtlCol="0" anchor="ctr"/>
          <a:lstStyle/>
          <a:p>
            <a:pPr indent="0" marL="0">
              <a:buNone/>
            </a:pPr>
            <a:r>
              <a:rPr lang="en-US" sz="2000" b="1" dirty="0">
                <a:solidFill>
                  <a:schemeClr val="tx2"/>
                </a:solidFill>
              </a:rPr>
              <a:t>Progress Is Unclear</a:t>
            </a:r>
            <a:endParaRPr lang="en-US" sz="2000" dirty="0"/>
          </a:p>
        </p:txBody>
      </p:sp>
      <p:sp>
        <p:nvSpPr>
          <p:cNvPr id="17" name="Text 12"/>
          <p:cNvSpPr txBox="1"/>
          <p:nvPr/>
        </p:nvSpPr>
        <p:spPr>
          <a:xfrm>
            <a:off x="1901952" y="4544568"/>
            <a:ext cx="3840480" cy="548640"/>
          </a:xfrm>
          <a:prstGeom prst="rect">
            <a:avLst/>
          </a:prstGeom>
          <a:noFill/>
          <a:ln/>
        </p:spPr>
        <p:txBody>
          <a:bodyPr wrap="square" lIns="0" tIns="0" rIns="0" bIns="0" rtlCol="0" anchor="t"/>
          <a:lstStyle/>
          <a:p>
            <a:pPr indent="0" marL="0">
              <a:buNone/>
            </a:pPr>
            <a:r>
              <a:rPr lang="en-US" sz="1500" dirty="0">
                <a:solidFill>
                  <a:schemeClr val="tx1"/>
                </a:solidFill>
              </a:rPr>
              <a:t>It is hard to see what is done and what is pending.</a:t>
            </a:r>
            <a:endParaRPr lang="en-US" sz="1500" dirty="0"/>
          </a:p>
        </p:txBody>
      </p:sp>
      <p:sp>
        <p:nvSpPr>
          <p:cNvPr id="18" name="Problem card 4"/>
          <p:cNvSpPr/>
          <p:nvPr/>
        </p:nvSpPr>
        <p:spPr>
          <a:xfrm>
            <a:off x="6217920" y="3886200"/>
            <a:ext cx="5349240" cy="1417320"/>
          </a:xfrm>
          <a:prstGeom prst="roundRect">
            <a:avLst>
              <a:gd name="adj" fmla="val 9677"/>
            </a:avLst>
          </a:prstGeom>
          <a:solidFill>
            <a:schemeClr val="bg2"/>
          </a:solidFill>
          <a:ln/>
        </p:spPr>
      </p:sp>
      <p:sp>
        <p:nvSpPr>
          <p:cNvPr id="19" name="Slow to Update circle"/>
          <p:cNvSpPr/>
          <p:nvPr/>
        </p:nvSpPr>
        <p:spPr>
          <a:xfrm>
            <a:off x="6492240" y="4233672"/>
            <a:ext cx="731520" cy="731520"/>
          </a:xfrm>
          <a:prstGeom prst="ellipse">
            <a:avLst/>
          </a:prstGeom>
          <a:solidFill>
            <a:schemeClr val="accent1"/>
          </a:solidFill>
          <a:ln/>
        </p:spPr>
      </p:sp>
      <p:pic>
        <p:nvPicPr>
          <p:cNvPr id="20" name="Image 3" descr="Slow to Update icon">    </p:cNvPr>
          <p:cNvPicPr>
            <a:picLocks noChangeAspect="1"/>
          </p:cNvPicPr>
          <p:nvPr/>
        </p:nvPicPr>
        <p:blipFill>
          <a:blip r:embed="rId4"/>
          <a:stretch>
            <a:fillRect/>
          </a:stretch>
        </p:blipFill>
        <p:spPr>
          <a:xfrm>
            <a:off x="6689750" y="4431182"/>
            <a:ext cx="336499" cy="336499"/>
          </a:xfrm>
          <a:prstGeom prst="rect">
            <a:avLst/>
          </a:prstGeom>
        </p:spPr>
      </p:pic>
      <p:sp>
        <p:nvSpPr>
          <p:cNvPr id="21" name="Text 15"/>
          <p:cNvSpPr txBox="1"/>
          <p:nvPr/>
        </p:nvSpPr>
        <p:spPr>
          <a:xfrm>
            <a:off x="7498080" y="4142232"/>
            <a:ext cx="3840480" cy="365760"/>
          </a:xfrm>
          <a:prstGeom prst="rect">
            <a:avLst/>
          </a:prstGeom>
          <a:noFill/>
          <a:ln/>
        </p:spPr>
        <p:txBody>
          <a:bodyPr wrap="square" lIns="0" tIns="0" rIns="0" bIns="0" rtlCol="0" anchor="ctr"/>
          <a:lstStyle/>
          <a:p>
            <a:pPr indent="0" marL="0">
              <a:buNone/>
            </a:pPr>
            <a:r>
              <a:rPr lang="en-US" sz="2000" b="1" dirty="0">
                <a:solidFill>
                  <a:schemeClr val="tx2"/>
                </a:solidFill>
              </a:rPr>
              <a:t>Slow to Update</a:t>
            </a:r>
            <a:endParaRPr lang="en-US" sz="2000" dirty="0"/>
          </a:p>
        </p:txBody>
      </p:sp>
      <p:sp>
        <p:nvSpPr>
          <p:cNvPr id="22" name="Text 16"/>
          <p:cNvSpPr txBox="1"/>
          <p:nvPr/>
        </p:nvSpPr>
        <p:spPr>
          <a:xfrm>
            <a:off x="7498080" y="4544568"/>
            <a:ext cx="3840480" cy="548640"/>
          </a:xfrm>
          <a:prstGeom prst="rect">
            <a:avLst/>
          </a:prstGeom>
          <a:noFill/>
          <a:ln/>
        </p:spPr>
        <p:txBody>
          <a:bodyPr wrap="square" lIns="0" tIns="0" rIns="0" bIns="0" rtlCol="0" anchor="t"/>
          <a:lstStyle/>
          <a:p>
            <a:pPr indent="0" marL="0">
              <a:buNone/>
            </a:pPr>
            <a:r>
              <a:rPr lang="en-US" sz="1500" dirty="0">
                <a:solidFill>
                  <a:schemeClr val="tx1"/>
                </a:solidFill>
              </a:rPr>
              <a:t>Crossing out and rewriting lists wastes time.</a:t>
            </a:r>
            <a:endParaRPr lang="en-US" sz="1500" dirty="0"/>
          </a:p>
        </p:txBody>
      </p:sp>
      <p:sp>
        <p:nvSpPr>
          <p:cNvPr id="23" name="Callout"/>
          <p:cNvSpPr/>
          <p:nvPr/>
        </p:nvSpPr>
        <p:spPr>
          <a:xfrm>
            <a:off x="621792" y="5532120"/>
            <a:ext cx="10945368" cy="731520"/>
          </a:xfrm>
          <a:prstGeom prst="roundRect">
            <a:avLst>
              <a:gd name="adj" fmla="val 18750"/>
            </a:avLst>
          </a:prstGeom>
          <a:solidFill>
            <a:schemeClr val="bg2"/>
          </a:solidFill>
          <a:ln/>
        </p:spPr>
      </p:sp>
      <p:sp>
        <p:nvSpPr>
          <p:cNvPr id="24" name="Callout circle"/>
          <p:cNvSpPr/>
          <p:nvPr/>
        </p:nvSpPr>
        <p:spPr>
          <a:xfrm>
            <a:off x="850392" y="5623560"/>
            <a:ext cx="548640" cy="548640"/>
          </a:xfrm>
          <a:prstGeom prst="ellipse">
            <a:avLst/>
          </a:prstGeom>
          <a:solidFill>
            <a:schemeClr val="accent4"/>
          </a:solidFill>
          <a:ln/>
        </p:spPr>
      </p:sp>
      <p:pic>
        <p:nvPicPr>
          <p:cNvPr id="25" name="Image 4" descr="Callout icon">    </p:cNvPr>
          <p:cNvPicPr>
            <a:picLocks noChangeAspect="1"/>
          </p:cNvPicPr>
          <p:nvPr/>
        </p:nvPicPr>
        <p:blipFill>
          <a:blip r:embed="rId5"/>
          <a:stretch>
            <a:fillRect/>
          </a:stretch>
        </p:blipFill>
        <p:spPr>
          <a:xfrm>
            <a:off x="998525" y="5771693"/>
            <a:ext cx="252374" cy="252374"/>
          </a:xfrm>
          <a:prstGeom prst="rect">
            <a:avLst/>
          </a:prstGeom>
        </p:spPr>
      </p:pic>
      <p:sp>
        <p:nvSpPr>
          <p:cNvPr id="26" name="Text 19"/>
          <p:cNvSpPr txBox="1"/>
          <p:nvPr/>
        </p:nvSpPr>
        <p:spPr>
          <a:xfrm>
            <a:off x="1627632" y="5532120"/>
            <a:ext cx="9756648" cy="731520"/>
          </a:xfrm>
          <a:prstGeom prst="rect">
            <a:avLst/>
          </a:prstGeom>
          <a:noFill/>
          <a:ln/>
        </p:spPr>
        <p:txBody>
          <a:bodyPr wrap="square" lIns="0" tIns="0" rIns="0" bIns="0" rtlCol="0" anchor="ctr"/>
          <a:lstStyle/>
          <a:p>
            <a:pPr indent="0" marL="0">
              <a:buNone/>
            </a:pPr>
            <a:r>
              <a:rPr lang="en-US" sz="1700" b="1" dirty="0">
                <a:solidFill>
                  <a:schemeClr val="tx2"/>
                </a:solidFill>
              </a:rPr>
              <a:t>We need a simple app that stores tasks and shows them clearly.</a:t>
            </a:r>
            <a:endParaRPr lang="en-US" sz="1700" dirty="0"/>
          </a:p>
        </p:txBody>
      </p:sp>
      <p:sp>
        <p:nvSpPr>
          <p:cNvPr id="25" name="Slide Number Placeholder 0"/>
          <p:cNvSpPr>
            <a:spLocks noGrp="1"/>
          </p:cNvSpPr>
          <p:nvPr>
            <p:ph type="sldNum" sz="quarter" idx="4294967295"/>
          </p:nvPr>
        </p:nvSpPr>
        <p:spPr>
          <a:xfrm>
            <a:off x="10652760"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8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4" type="title" hasCustomPrompt="1"/>
          </p:nvPr>
        </p:nvSpPr>
        <p:spPr>
          <a:xfrm>
            <a:off x="621792" y="1371600"/>
            <a:ext cx="10945368" cy="731520"/>
          </a:xfrm>
          <a:prstGeom prst="rect">
            <a:avLst/>
          </a:prstGeom>
          <a:noFill/>
          <a:ln/>
        </p:spPr>
        <p:txBody>
          <a:bodyPr wrap="square" lIns="0" tIns="0" rIns="0" bIns="0" rtlCol="0" anchor="ctr"/>
          <a:lstStyle/>
          <a:p>
            <a:pPr algn="l" indent="0" marL="0">
              <a:buNone/>
            </a:pPr>
            <a:r>
              <a:rPr lang="en-US" sz="3600" b="1" dirty="0">
                <a:solidFill>
                  <a:schemeClr val="tx2"/>
                </a:solidFill>
              </a:rPr>
              <a:t>Objectives</a:t>
            </a:r>
            <a:endParaRPr lang="en-US" sz="3600" dirty="0"/>
          </a:p>
        </p:txBody>
      </p:sp>
      <p:sp>
        <p:nvSpPr>
          <p:cNvPr id="3" name="Objective card 1"/>
          <p:cNvSpPr/>
          <p:nvPr/>
        </p:nvSpPr>
        <p:spPr>
          <a:xfrm>
            <a:off x="621792" y="2240280"/>
            <a:ext cx="3465576" cy="1828800"/>
          </a:xfrm>
          <a:prstGeom prst="roundRect">
            <a:avLst>
              <a:gd name="adj" fmla="val 7500"/>
            </a:avLst>
          </a:prstGeom>
          <a:solidFill>
            <a:schemeClr val="bg2"/>
          </a:solidFill>
          <a:ln/>
        </p:spPr>
      </p:sp>
      <p:sp>
        <p:nvSpPr>
          <p:cNvPr id="4" name="Add Tasks circle"/>
          <p:cNvSpPr/>
          <p:nvPr/>
        </p:nvSpPr>
        <p:spPr>
          <a:xfrm>
            <a:off x="850392" y="2514600"/>
            <a:ext cx="731520" cy="731520"/>
          </a:xfrm>
          <a:prstGeom prst="ellipse">
            <a:avLst/>
          </a:prstGeom>
          <a:solidFill>
            <a:schemeClr val="accent2"/>
          </a:solidFill>
          <a:ln/>
        </p:spPr>
      </p:sp>
      <p:pic>
        <p:nvPicPr>
          <p:cNvPr id="5" name="Image 0" descr="Add Tasks icon">    </p:cNvPr>
          <p:cNvPicPr>
            <a:picLocks noChangeAspect="1"/>
          </p:cNvPicPr>
          <p:nvPr/>
        </p:nvPicPr>
        <p:blipFill>
          <a:blip r:embed="rId1"/>
          <a:stretch>
            <a:fillRect/>
          </a:stretch>
        </p:blipFill>
        <p:spPr>
          <a:xfrm>
            <a:off x="1047902" y="2712110"/>
            <a:ext cx="336499" cy="336499"/>
          </a:xfrm>
          <a:prstGeom prst="rect">
            <a:avLst/>
          </a:prstGeom>
        </p:spPr>
      </p:pic>
      <p:sp>
        <p:nvSpPr>
          <p:cNvPr id="6" name="Text 3"/>
          <p:cNvSpPr txBox="1"/>
          <p:nvPr/>
        </p:nvSpPr>
        <p:spPr>
          <a:xfrm>
            <a:off x="1764792" y="2514600"/>
            <a:ext cx="2194560" cy="365760"/>
          </a:xfrm>
          <a:prstGeom prst="rect">
            <a:avLst/>
          </a:prstGeom>
          <a:noFill/>
          <a:ln/>
        </p:spPr>
        <p:txBody>
          <a:bodyPr wrap="square" lIns="0" tIns="0" rIns="0" bIns="0" rtlCol="0" anchor="ctr"/>
          <a:lstStyle/>
          <a:p>
            <a:pPr indent="0" marL="0">
              <a:buNone/>
            </a:pPr>
            <a:r>
              <a:rPr lang="en-US" sz="1900" b="1" dirty="0">
                <a:solidFill>
                  <a:schemeClr val="tx2"/>
                </a:solidFill>
              </a:rPr>
              <a:t>Add Tasks</a:t>
            </a:r>
            <a:endParaRPr lang="en-US" sz="1900" dirty="0"/>
          </a:p>
        </p:txBody>
      </p:sp>
      <p:sp>
        <p:nvSpPr>
          <p:cNvPr id="7" name="Text 4"/>
          <p:cNvSpPr txBox="1"/>
          <p:nvPr/>
        </p:nvSpPr>
        <p:spPr>
          <a:xfrm>
            <a:off x="1764792" y="2926080"/>
            <a:ext cx="2194560" cy="822960"/>
          </a:xfrm>
          <a:prstGeom prst="rect">
            <a:avLst/>
          </a:prstGeom>
          <a:noFill/>
          <a:ln/>
        </p:spPr>
        <p:txBody>
          <a:bodyPr wrap="square" lIns="0" tIns="0" rIns="0" bIns="0" rtlCol="0" anchor="t"/>
          <a:lstStyle/>
          <a:p>
            <a:pPr indent="0" marL="0">
              <a:buNone/>
            </a:pPr>
            <a:r>
              <a:rPr lang="en-US" sz="1500" dirty="0">
                <a:solidFill>
                  <a:schemeClr val="tx1"/>
                </a:solidFill>
              </a:rPr>
              <a:t>Enter new tasks quickly.</a:t>
            </a:r>
            <a:endParaRPr lang="en-US" sz="1500" dirty="0"/>
          </a:p>
        </p:txBody>
      </p:sp>
      <p:sp>
        <p:nvSpPr>
          <p:cNvPr id="8" name="Objective card 2"/>
          <p:cNvSpPr/>
          <p:nvPr/>
        </p:nvSpPr>
        <p:spPr>
          <a:xfrm>
            <a:off x="4361688" y="2240280"/>
            <a:ext cx="3465576" cy="1828800"/>
          </a:xfrm>
          <a:prstGeom prst="roundRect">
            <a:avLst>
              <a:gd name="adj" fmla="val 7500"/>
            </a:avLst>
          </a:prstGeom>
          <a:solidFill>
            <a:schemeClr val="bg2"/>
          </a:solidFill>
          <a:ln/>
        </p:spPr>
      </p:sp>
      <p:sp>
        <p:nvSpPr>
          <p:cNvPr id="9" name="View Tasks circle"/>
          <p:cNvSpPr/>
          <p:nvPr/>
        </p:nvSpPr>
        <p:spPr>
          <a:xfrm>
            <a:off x="4590288" y="2514600"/>
            <a:ext cx="731520" cy="731520"/>
          </a:xfrm>
          <a:prstGeom prst="ellipse">
            <a:avLst/>
          </a:prstGeom>
          <a:solidFill>
            <a:schemeClr val="accent1"/>
          </a:solidFill>
          <a:ln/>
        </p:spPr>
      </p:sp>
      <p:pic>
        <p:nvPicPr>
          <p:cNvPr id="10" name="Image 1" descr="View Tasks icon">    </p:cNvPr>
          <p:cNvPicPr>
            <a:picLocks noChangeAspect="1"/>
          </p:cNvPicPr>
          <p:nvPr/>
        </p:nvPicPr>
        <p:blipFill>
          <a:blip r:embed="rId2"/>
          <a:stretch>
            <a:fillRect/>
          </a:stretch>
        </p:blipFill>
        <p:spPr>
          <a:xfrm>
            <a:off x="4787798" y="2712110"/>
            <a:ext cx="336499" cy="336499"/>
          </a:xfrm>
          <a:prstGeom prst="rect">
            <a:avLst/>
          </a:prstGeom>
        </p:spPr>
      </p:pic>
      <p:sp>
        <p:nvSpPr>
          <p:cNvPr id="11" name="Text 7"/>
          <p:cNvSpPr txBox="1"/>
          <p:nvPr/>
        </p:nvSpPr>
        <p:spPr>
          <a:xfrm>
            <a:off x="5504688" y="2514600"/>
            <a:ext cx="2194560" cy="365760"/>
          </a:xfrm>
          <a:prstGeom prst="rect">
            <a:avLst/>
          </a:prstGeom>
          <a:noFill/>
          <a:ln/>
        </p:spPr>
        <p:txBody>
          <a:bodyPr wrap="square" lIns="0" tIns="0" rIns="0" bIns="0" rtlCol="0" anchor="ctr"/>
          <a:lstStyle/>
          <a:p>
            <a:pPr indent="0" marL="0">
              <a:buNone/>
            </a:pPr>
            <a:r>
              <a:rPr lang="en-US" sz="1900" b="1" dirty="0">
                <a:solidFill>
                  <a:schemeClr val="tx2"/>
                </a:solidFill>
              </a:rPr>
              <a:t>View Tasks</a:t>
            </a:r>
            <a:endParaRPr lang="en-US" sz="1900" dirty="0"/>
          </a:p>
        </p:txBody>
      </p:sp>
      <p:sp>
        <p:nvSpPr>
          <p:cNvPr id="12" name="Text 8"/>
          <p:cNvSpPr txBox="1"/>
          <p:nvPr/>
        </p:nvSpPr>
        <p:spPr>
          <a:xfrm>
            <a:off x="5504688" y="2926080"/>
            <a:ext cx="2194560" cy="822960"/>
          </a:xfrm>
          <a:prstGeom prst="rect">
            <a:avLst/>
          </a:prstGeom>
          <a:noFill/>
          <a:ln/>
        </p:spPr>
        <p:txBody>
          <a:bodyPr wrap="square" lIns="0" tIns="0" rIns="0" bIns="0" rtlCol="0" anchor="t"/>
          <a:lstStyle/>
          <a:p>
            <a:pPr indent="0" marL="0">
              <a:buNone/>
            </a:pPr>
            <a:r>
              <a:rPr lang="en-US" sz="1500" dirty="0">
                <a:solidFill>
                  <a:schemeClr val="tx1"/>
                </a:solidFill>
              </a:rPr>
              <a:t>See all tasks in a clear list.</a:t>
            </a:r>
            <a:endParaRPr lang="en-US" sz="1500" dirty="0"/>
          </a:p>
        </p:txBody>
      </p:sp>
      <p:sp>
        <p:nvSpPr>
          <p:cNvPr id="13" name="Objective card 3"/>
          <p:cNvSpPr/>
          <p:nvPr/>
        </p:nvSpPr>
        <p:spPr>
          <a:xfrm>
            <a:off x="8101584" y="2240280"/>
            <a:ext cx="3465576" cy="1828800"/>
          </a:xfrm>
          <a:prstGeom prst="roundRect">
            <a:avLst>
              <a:gd name="adj" fmla="val 7500"/>
            </a:avLst>
          </a:prstGeom>
          <a:solidFill>
            <a:schemeClr val="bg2"/>
          </a:solidFill>
          <a:ln/>
        </p:spPr>
      </p:sp>
      <p:sp>
        <p:nvSpPr>
          <p:cNvPr id="14" name="Complete Tasks circle"/>
          <p:cNvSpPr/>
          <p:nvPr/>
        </p:nvSpPr>
        <p:spPr>
          <a:xfrm>
            <a:off x="8330184" y="2514600"/>
            <a:ext cx="731520" cy="731520"/>
          </a:xfrm>
          <a:prstGeom prst="ellipse">
            <a:avLst/>
          </a:prstGeom>
          <a:solidFill>
            <a:schemeClr val="accent2"/>
          </a:solidFill>
          <a:ln/>
        </p:spPr>
      </p:sp>
      <p:pic>
        <p:nvPicPr>
          <p:cNvPr id="15" name="Image 2" descr="Complete Tasks icon">    </p:cNvPr>
          <p:cNvPicPr>
            <a:picLocks noChangeAspect="1"/>
          </p:cNvPicPr>
          <p:nvPr/>
        </p:nvPicPr>
        <p:blipFill>
          <a:blip r:embed="rId3"/>
          <a:stretch>
            <a:fillRect/>
          </a:stretch>
        </p:blipFill>
        <p:spPr>
          <a:xfrm>
            <a:off x="8527694" y="2712110"/>
            <a:ext cx="336499" cy="336499"/>
          </a:xfrm>
          <a:prstGeom prst="rect">
            <a:avLst/>
          </a:prstGeom>
        </p:spPr>
      </p:pic>
      <p:sp>
        <p:nvSpPr>
          <p:cNvPr id="16" name="Text 11"/>
          <p:cNvSpPr txBox="1"/>
          <p:nvPr/>
        </p:nvSpPr>
        <p:spPr>
          <a:xfrm>
            <a:off x="9244584" y="2514600"/>
            <a:ext cx="2194560" cy="365760"/>
          </a:xfrm>
          <a:prstGeom prst="rect">
            <a:avLst/>
          </a:prstGeom>
          <a:noFill/>
          <a:ln/>
        </p:spPr>
        <p:txBody>
          <a:bodyPr wrap="square" lIns="0" tIns="0" rIns="0" bIns="0" rtlCol="0" anchor="ctr"/>
          <a:lstStyle/>
          <a:p>
            <a:pPr indent="0" marL="0">
              <a:buNone/>
            </a:pPr>
            <a:r>
              <a:rPr lang="en-US" sz="1900" b="1" dirty="0">
                <a:solidFill>
                  <a:schemeClr val="tx2"/>
                </a:solidFill>
              </a:rPr>
              <a:t>Complete Tasks</a:t>
            </a:r>
            <a:endParaRPr lang="en-US" sz="1900" dirty="0"/>
          </a:p>
        </p:txBody>
      </p:sp>
      <p:sp>
        <p:nvSpPr>
          <p:cNvPr id="17" name="Text 12"/>
          <p:cNvSpPr txBox="1"/>
          <p:nvPr/>
        </p:nvSpPr>
        <p:spPr>
          <a:xfrm>
            <a:off x="9244584" y="2926080"/>
            <a:ext cx="2194560" cy="822960"/>
          </a:xfrm>
          <a:prstGeom prst="rect">
            <a:avLst/>
          </a:prstGeom>
          <a:noFill/>
          <a:ln/>
        </p:spPr>
        <p:txBody>
          <a:bodyPr wrap="square" lIns="0" tIns="0" rIns="0" bIns="0" rtlCol="0" anchor="t"/>
          <a:lstStyle/>
          <a:p>
            <a:pPr indent="0" marL="0">
              <a:buNone/>
            </a:pPr>
            <a:r>
              <a:rPr lang="en-US" sz="1500" dirty="0">
                <a:solidFill>
                  <a:schemeClr val="tx1"/>
                </a:solidFill>
              </a:rPr>
              <a:t>Mark finished tasks as done.</a:t>
            </a:r>
            <a:endParaRPr lang="en-US" sz="1500" dirty="0"/>
          </a:p>
        </p:txBody>
      </p:sp>
      <p:sp>
        <p:nvSpPr>
          <p:cNvPr id="18" name="Objective card 4"/>
          <p:cNvSpPr/>
          <p:nvPr/>
        </p:nvSpPr>
        <p:spPr>
          <a:xfrm>
            <a:off x="621792" y="4297680"/>
            <a:ext cx="3465576" cy="1828800"/>
          </a:xfrm>
          <a:prstGeom prst="roundRect">
            <a:avLst>
              <a:gd name="adj" fmla="val 7500"/>
            </a:avLst>
          </a:prstGeom>
          <a:solidFill>
            <a:schemeClr val="bg2"/>
          </a:solidFill>
          <a:ln/>
        </p:spPr>
      </p:sp>
      <p:sp>
        <p:nvSpPr>
          <p:cNvPr id="19" name="Delete Tasks circle"/>
          <p:cNvSpPr/>
          <p:nvPr/>
        </p:nvSpPr>
        <p:spPr>
          <a:xfrm>
            <a:off x="850392" y="4572000"/>
            <a:ext cx="731520" cy="731520"/>
          </a:xfrm>
          <a:prstGeom prst="ellipse">
            <a:avLst/>
          </a:prstGeom>
          <a:solidFill>
            <a:schemeClr val="accent1"/>
          </a:solidFill>
          <a:ln/>
        </p:spPr>
      </p:sp>
      <p:pic>
        <p:nvPicPr>
          <p:cNvPr id="20" name="Image 3" descr="Delete Tasks icon">    </p:cNvPr>
          <p:cNvPicPr>
            <a:picLocks noChangeAspect="1"/>
          </p:cNvPicPr>
          <p:nvPr/>
        </p:nvPicPr>
        <p:blipFill>
          <a:blip r:embed="rId4"/>
          <a:stretch>
            <a:fillRect/>
          </a:stretch>
        </p:blipFill>
        <p:spPr>
          <a:xfrm>
            <a:off x="1047902" y="4769510"/>
            <a:ext cx="336499" cy="336499"/>
          </a:xfrm>
          <a:prstGeom prst="rect">
            <a:avLst/>
          </a:prstGeom>
        </p:spPr>
      </p:pic>
      <p:sp>
        <p:nvSpPr>
          <p:cNvPr id="21" name="Text 15"/>
          <p:cNvSpPr txBox="1"/>
          <p:nvPr/>
        </p:nvSpPr>
        <p:spPr>
          <a:xfrm>
            <a:off x="1764792" y="4572000"/>
            <a:ext cx="2194560" cy="365760"/>
          </a:xfrm>
          <a:prstGeom prst="rect">
            <a:avLst/>
          </a:prstGeom>
          <a:noFill/>
          <a:ln/>
        </p:spPr>
        <p:txBody>
          <a:bodyPr wrap="square" lIns="0" tIns="0" rIns="0" bIns="0" rtlCol="0" anchor="ctr"/>
          <a:lstStyle/>
          <a:p>
            <a:pPr indent="0" marL="0">
              <a:buNone/>
            </a:pPr>
            <a:r>
              <a:rPr lang="en-US" sz="1900" b="1" dirty="0">
                <a:solidFill>
                  <a:schemeClr val="tx2"/>
                </a:solidFill>
              </a:rPr>
              <a:t>Delete Tasks</a:t>
            </a:r>
            <a:endParaRPr lang="en-US" sz="1900" dirty="0"/>
          </a:p>
        </p:txBody>
      </p:sp>
      <p:sp>
        <p:nvSpPr>
          <p:cNvPr id="22" name="Text 16"/>
          <p:cNvSpPr txBox="1"/>
          <p:nvPr/>
        </p:nvSpPr>
        <p:spPr>
          <a:xfrm>
            <a:off x="1764792" y="4983480"/>
            <a:ext cx="2194560" cy="822960"/>
          </a:xfrm>
          <a:prstGeom prst="rect">
            <a:avLst/>
          </a:prstGeom>
          <a:noFill/>
          <a:ln/>
        </p:spPr>
        <p:txBody>
          <a:bodyPr wrap="square" lIns="0" tIns="0" rIns="0" bIns="0" rtlCol="0" anchor="t"/>
          <a:lstStyle/>
          <a:p>
            <a:pPr indent="0" marL="0">
              <a:buNone/>
            </a:pPr>
            <a:r>
              <a:rPr lang="en-US" sz="1500" dirty="0">
                <a:solidFill>
                  <a:schemeClr val="tx1"/>
                </a:solidFill>
              </a:rPr>
              <a:t>Remove tasks you no longer need.</a:t>
            </a:r>
            <a:endParaRPr lang="en-US" sz="1500" dirty="0"/>
          </a:p>
        </p:txBody>
      </p:sp>
      <p:sp>
        <p:nvSpPr>
          <p:cNvPr id="23" name="Objective card 5"/>
          <p:cNvSpPr/>
          <p:nvPr/>
        </p:nvSpPr>
        <p:spPr>
          <a:xfrm>
            <a:off x="4361688" y="4297680"/>
            <a:ext cx="3465576" cy="1828800"/>
          </a:xfrm>
          <a:prstGeom prst="roundRect">
            <a:avLst>
              <a:gd name="adj" fmla="val 7500"/>
            </a:avLst>
          </a:prstGeom>
          <a:solidFill>
            <a:schemeClr val="bg2"/>
          </a:solidFill>
          <a:ln/>
        </p:spPr>
      </p:sp>
      <p:sp>
        <p:nvSpPr>
          <p:cNvPr id="24" name="Save Automatically circle"/>
          <p:cNvSpPr/>
          <p:nvPr/>
        </p:nvSpPr>
        <p:spPr>
          <a:xfrm>
            <a:off x="4590288" y="4572000"/>
            <a:ext cx="731520" cy="731520"/>
          </a:xfrm>
          <a:prstGeom prst="ellipse">
            <a:avLst/>
          </a:prstGeom>
          <a:solidFill>
            <a:schemeClr val="accent2"/>
          </a:solidFill>
          <a:ln/>
        </p:spPr>
      </p:sp>
      <p:pic>
        <p:nvPicPr>
          <p:cNvPr id="25" name="Image 4" descr="Save Automatically icon">    </p:cNvPr>
          <p:cNvPicPr>
            <a:picLocks noChangeAspect="1"/>
          </p:cNvPicPr>
          <p:nvPr/>
        </p:nvPicPr>
        <p:blipFill>
          <a:blip r:embed="rId5"/>
          <a:stretch>
            <a:fillRect/>
          </a:stretch>
        </p:blipFill>
        <p:spPr>
          <a:xfrm>
            <a:off x="4787798" y="4769510"/>
            <a:ext cx="336499" cy="336499"/>
          </a:xfrm>
          <a:prstGeom prst="rect">
            <a:avLst/>
          </a:prstGeom>
        </p:spPr>
      </p:pic>
      <p:sp>
        <p:nvSpPr>
          <p:cNvPr id="26" name="Text 19"/>
          <p:cNvSpPr txBox="1"/>
          <p:nvPr/>
        </p:nvSpPr>
        <p:spPr>
          <a:xfrm>
            <a:off x="5504688" y="4572000"/>
            <a:ext cx="2194560" cy="365760"/>
          </a:xfrm>
          <a:prstGeom prst="rect">
            <a:avLst/>
          </a:prstGeom>
          <a:noFill/>
          <a:ln/>
        </p:spPr>
        <p:txBody>
          <a:bodyPr wrap="square" lIns="0" tIns="0" rIns="0" bIns="0" rtlCol="0" anchor="ctr"/>
          <a:lstStyle/>
          <a:p>
            <a:pPr indent="0" marL="0">
              <a:buNone/>
            </a:pPr>
            <a:r>
              <a:rPr lang="en-US" sz="1900" b="1" dirty="0">
                <a:solidFill>
                  <a:schemeClr val="tx2"/>
                </a:solidFill>
              </a:rPr>
              <a:t>Save Automatically</a:t>
            </a:r>
            <a:endParaRPr lang="en-US" sz="1900" dirty="0"/>
          </a:p>
        </p:txBody>
      </p:sp>
      <p:sp>
        <p:nvSpPr>
          <p:cNvPr id="27" name="Text 20"/>
          <p:cNvSpPr txBox="1"/>
          <p:nvPr/>
        </p:nvSpPr>
        <p:spPr>
          <a:xfrm>
            <a:off x="5504688" y="4983480"/>
            <a:ext cx="2194560" cy="822960"/>
          </a:xfrm>
          <a:prstGeom prst="rect">
            <a:avLst/>
          </a:prstGeom>
          <a:noFill/>
          <a:ln/>
        </p:spPr>
        <p:txBody>
          <a:bodyPr wrap="square" lIns="0" tIns="0" rIns="0" bIns="0" rtlCol="0" anchor="t"/>
          <a:lstStyle/>
          <a:p>
            <a:pPr indent="0" marL="0">
              <a:buNone/>
            </a:pPr>
            <a:r>
              <a:rPr lang="en-US" sz="1500" dirty="0">
                <a:solidFill>
                  <a:schemeClr val="tx1"/>
                </a:solidFill>
              </a:rPr>
              <a:t>Keep tasks in a JSON file.</a:t>
            </a:r>
            <a:endParaRPr lang="en-US" sz="1500" dirty="0"/>
          </a:p>
        </p:txBody>
      </p:sp>
      <p:sp>
        <p:nvSpPr>
          <p:cNvPr id="28" name="Objective card 6"/>
          <p:cNvSpPr/>
          <p:nvPr/>
        </p:nvSpPr>
        <p:spPr>
          <a:xfrm>
            <a:off x="8101584" y="4297680"/>
            <a:ext cx="3465576" cy="1828800"/>
          </a:xfrm>
          <a:prstGeom prst="roundRect">
            <a:avLst>
              <a:gd name="adj" fmla="val 7500"/>
            </a:avLst>
          </a:prstGeom>
          <a:solidFill>
            <a:schemeClr val="bg2"/>
          </a:solidFill>
          <a:ln/>
        </p:spPr>
      </p:sp>
      <p:sp>
        <p:nvSpPr>
          <p:cNvPr id="29" name="Easy GUI circle"/>
          <p:cNvSpPr/>
          <p:nvPr/>
        </p:nvSpPr>
        <p:spPr>
          <a:xfrm>
            <a:off x="8330184" y="4572000"/>
            <a:ext cx="731520" cy="731520"/>
          </a:xfrm>
          <a:prstGeom prst="ellipse">
            <a:avLst/>
          </a:prstGeom>
          <a:solidFill>
            <a:schemeClr val="accent1"/>
          </a:solidFill>
          <a:ln/>
        </p:spPr>
      </p:sp>
      <p:pic>
        <p:nvPicPr>
          <p:cNvPr id="30" name="Image 5" descr="Easy GUI icon">    </p:cNvPr>
          <p:cNvPicPr>
            <a:picLocks noChangeAspect="1"/>
          </p:cNvPicPr>
          <p:nvPr/>
        </p:nvPicPr>
        <p:blipFill>
          <a:blip r:embed="rId6"/>
          <a:stretch>
            <a:fillRect/>
          </a:stretch>
        </p:blipFill>
        <p:spPr>
          <a:xfrm>
            <a:off x="8527694" y="4769510"/>
            <a:ext cx="336499" cy="336499"/>
          </a:xfrm>
          <a:prstGeom prst="rect">
            <a:avLst/>
          </a:prstGeom>
        </p:spPr>
      </p:pic>
      <p:sp>
        <p:nvSpPr>
          <p:cNvPr id="31" name="Text 23"/>
          <p:cNvSpPr txBox="1"/>
          <p:nvPr/>
        </p:nvSpPr>
        <p:spPr>
          <a:xfrm>
            <a:off x="9244584" y="4572000"/>
            <a:ext cx="2194560" cy="365760"/>
          </a:xfrm>
          <a:prstGeom prst="rect">
            <a:avLst/>
          </a:prstGeom>
          <a:noFill/>
          <a:ln/>
        </p:spPr>
        <p:txBody>
          <a:bodyPr wrap="square" lIns="0" tIns="0" rIns="0" bIns="0" rtlCol="0" anchor="ctr"/>
          <a:lstStyle/>
          <a:p>
            <a:pPr indent="0" marL="0">
              <a:buNone/>
            </a:pPr>
            <a:r>
              <a:rPr lang="en-US" sz="1900" b="1" dirty="0">
                <a:solidFill>
                  <a:schemeClr val="tx2"/>
                </a:solidFill>
              </a:rPr>
              <a:t>Easy GUI</a:t>
            </a:r>
            <a:endParaRPr lang="en-US" sz="1900" dirty="0"/>
          </a:p>
        </p:txBody>
      </p:sp>
      <p:sp>
        <p:nvSpPr>
          <p:cNvPr id="32" name="Text 24"/>
          <p:cNvSpPr txBox="1"/>
          <p:nvPr/>
        </p:nvSpPr>
        <p:spPr>
          <a:xfrm>
            <a:off x="9244584" y="4983480"/>
            <a:ext cx="2194560" cy="822960"/>
          </a:xfrm>
          <a:prstGeom prst="rect">
            <a:avLst/>
          </a:prstGeom>
          <a:noFill/>
          <a:ln/>
        </p:spPr>
        <p:txBody>
          <a:bodyPr wrap="square" lIns="0" tIns="0" rIns="0" bIns="0" rtlCol="0" anchor="t"/>
          <a:lstStyle/>
          <a:p>
            <a:pPr indent="0" marL="0">
              <a:buNone/>
            </a:pPr>
            <a:r>
              <a:rPr lang="en-US" sz="1500" dirty="0">
                <a:solidFill>
                  <a:schemeClr val="tx1"/>
                </a:solidFill>
              </a:rPr>
              <a:t>Use a friendly Tkinter window.</a:t>
            </a:r>
            <a:endParaRPr lang="en-US" sz="1500" dirty="0"/>
          </a:p>
        </p:txBody>
      </p:sp>
      <p:sp>
        <p:nvSpPr>
          <p:cNvPr id="25" name="Slide Number Placeholder 0"/>
          <p:cNvSpPr>
            <a:spLocks noGrp="1"/>
          </p:cNvSpPr>
          <p:nvPr>
            <p:ph type="sldNum" sz="quarter" idx="4294967295"/>
          </p:nvPr>
        </p:nvSpPr>
        <p:spPr>
          <a:xfrm>
            <a:off x="10652760"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8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4" type="title" hasCustomPrompt="1"/>
          </p:nvPr>
        </p:nvSpPr>
        <p:spPr>
          <a:xfrm>
            <a:off x="621792" y="1371600"/>
            <a:ext cx="10945368" cy="731520"/>
          </a:xfrm>
          <a:prstGeom prst="rect">
            <a:avLst/>
          </a:prstGeom>
          <a:noFill/>
          <a:ln/>
        </p:spPr>
        <p:txBody>
          <a:bodyPr wrap="square" lIns="0" tIns="0" rIns="0" bIns="0" rtlCol="0" anchor="ctr"/>
          <a:lstStyle/>
          <a:p>
            <a:pPr algn="l" indent="0" marL="0">
              <a:buNone/>
            </a:pPr>
            <a:r>
              <a:rPr lang="en-US" sz="3600" b="1" dirty="0">
                <a:solidFill>
                  <a:schemeClr val="tx2"/>
                </a:solidFill>
              </a:rPr>
              <a:t>Technologies Used</a:t>
            </a:r>
            <a:endParaRPr lang="en-US" sz="3600" dirty="0"/>
          </a:p>
        </p:txBody>
      </p:sp>
      <p:sp>
        <p:nvSpPr>
          <p:cNvPr id="3" name="Technology card 1"/>
          <p:cNvSpPr/>
          <p:nvPr/>
        </p:nvSpPr>
        <p:spPr>
          <a:xfrm>
            <a:off x="621792" y="2240280"/>
            <a:ext cx="2530602" cy="3017520"/>
          </a:xfrm>
          <a:prstGeom prst="roundRect">
            <a:avLst>
              <a:gd name="adj" fmla="val 5420"/>
            </a:avLst>
          </a:prstGeom>
          <a:solidFill>
            <a:schemeClr val="bg2"/>
          </a:solidFill>
          <a:ln/>
        </p:spPr>
      </p:sp>
      <p:sp>
        <p:nvSpPr>
          <p:cNvPr id="4" name="Python circle"/>
          <p:cNvSpPr/>
          <p:nvPr/>
        </p:nvSpPr>
        <p:spPr>
          <a:xfrm>
            <a:off x="896112" y="2560320"/>
            <a:ext cx="914400" cy="914400"/>
          </a:xfrm>
          <a:prstGeom prst="ellipse">
            <a:avLst/>
          </a:prstGeom>
          <a:solidFill>
            <a:schemeClr val="accent2"/>
          </a:solidFill>
          <a:ln/>
        </p:spPr>
      </p:sp>
      <p:pic>
        <p:nvPicPr>
          <p:cNvPr id="5" name="Image 0" descr="Python icon">    </p:cNvPr>
          <p:cNvPicPr>
            <a:picLocks noChangeAspect="1"/>
          </p:cNvPicPr>
          <p:nvPr/>
        </p:nvPicPr>
        <p:blipFill>
          <a:blip r:embed="rId1"/>
          <a:stretch>
            <a:fillRect/>
          </a:stretch>
        </p:blipFill>
        <p:spPr>
          <a:xfrm>
            <a:off x="1143000" y="2807208"/>
            <a:ext cx="420624" cy="420624"/>
          </a:xfrm>
          <a:prstGeom prst="rect">
            <a:avLst/>
          </a:prstGeom>
        </p:spPr>
      </p:pic>
      <p:sp>
        <p:nvSpPr>
          <p:cNvPr id="6" name="Text 3"/>
          <p:cNvSpPr txBox="1"/>
          <p:nvPr/>
        </p:nvSpPr>
        <p:spPr>
          <a:xfrm>
            <a:off x="896112" y="3703320"/>
            <a:ext cx="2011680" cy="365760"/>
          </a:xfrm>
          <a:prstGeom prst="rect">
            <a:avLst/>
          </a:prstGeom>
          <a:noFill/>
          <a:ln/>
        </p:spPr>
        <p:txBody>
          <a:bodyPr wrap="square" lIns="0" tIns="0" rIns="0" bIns="0" rtlCol="0" anchor="ctr"/>
          <a:lstStyle/>
          <a:p>
            <a:pPr indent="0" marL="0">
              <a:buNone/>
            </a:pPr>
            <a:r>
              <a:rPr lang="en-US" sz="2200" b="1" dirty="0">
                <a:solidFill>
                  <a:schemeClr val="tx2"/>
                </a:solidFill>
              </a:rPr>
              <a:t>Python</a:t>
            </a:r>
            <a:endParaRPr lang="en-US" sz="2200" dirty="0"/>
          </a:p>
        </p:txBody>
      </p:sp>
      <p:sp>
        <p:nvSpPr>
          <p:cNvPr id="7" name="Text 4"/>
          <p:cNvSpPr txBox="1"/>
          <p:nvPr/>
        </p:nvSpPr>
        <p:spPr>
          <a:xfrm>
            <a:off x="896112" y="4160520"/>
            <a:ext cx="2011680" cy="1097280"/>
          </a:xfrm>
          <a:prstGeom prst="rect">
            <a:avLst/>
          </a:prstGeom>
          <a:noFill/>
          <a:ln/>
        </p:spPr>
        <p:txBody>
          <a:bodyPr wrap="square" lIns="0" tIns="0" rIns="0" bIns="0" rtlCol="0" anchor="t"/>
          <a:lstStyle/>
          <a:p>
            <a:pPr indent="0" marL="0">
              <a:buNone/>
            </a:pPr>
            <a:r>
              <a:rPr lang="en-US" sz="1500" dirty="0">
                <a:solidFill>
                  <a:schemeClr val="tx1"/>
                </a:solidFill>
              </a:rPr>
              <a:t>Main language used to write all the logic.</a:t>
            </a:r>
            <a:endParaRPr lang="en-US" sz="1500" dirty="0"/>
          </a:p>
        </p:txBody>
      </p:sp>
      <p:sp>
        <p:nvSpPr>
          <p:cNvPr id="8" name="Technology card 2"/>
          <p:cNvSpPr/>
          <p:nvPr/>
        </p:nvSpPr>
        <p:spPr>
          <a:xfrm>
            <a:off x="3426714" y="2240280"/>
            <a:ext cx="2530602" cy="3017520"/>
          </a:xfrm>
          <a:prstGeom prst="roundRect">
            <a:avLst>
              <a:gd name="adj" fmla="val 5420"/>
            </a:avLst>
          </a:prstGeom>
          <a:solidFill>
            <a:schemeClr val="bg2"/>
          </a:solidFill>
          <a:ln/>
        </p:spPr>
      </p:sp>
      <p:sp>
        <p:nvSpPr>
          <p:cNvPr id="9" name="Lists circle"/>
          <p:cNvSpPr/>
          <p:nvPr/>
        </p:nvSpPr>
        <p:spPr>
          <a:xfrm>
            <a:off x="3701034" y="2560320"/>
            <a:ext cx="914400" cy="914400"/>
          </a:xfrm>
          <a:prstGeom prst="ellipse">
            <a:avLst/>
          </a:prstGeom>
          <a:solidFill>
            <a:schemeClr val="accent1"/>
          </a:solidFill>
          <a:ln/>
        </p:spPr>
      </p:sp>
      <p:pic>
        <p:nvPicPr>
          <p:cNvPr id="10" name="Image 1" descr="Lists icon">    </p:cNvPr>
          <p:cNvPicPr>
            <a:picLocks noChangeAspect="1"/>
          </p:cNvPicPr>
          <p:nvPr/>
        </p:nvPicPr>
        <p:blipFill>
          <a:blip r:embed="rId2"/>
          <a:stretch>
            <a:fillRect/>
          </a:stretch>
        </p:blipFill>
        <p:spPr>
          <a:xfrm>
            <a:off x="3947922" y="2807208"/>
            <a:ext cx="420624" cy="420624"/>
          </a:xfrm>
          <a:prstGeom prst="rect">
            <a:avLst/>
          </a:prstGeom>
        </p:spPr>
      </p:pic>
      <p:sp>
        <p:nvSpPr>
          <p:cNvPr id="11" name="Text 7"/>
          <p:cNvSpPr txBox="1"/>
          <p:nvPr/>
        </p:nvSpPr>
        <p:spPr>
          <a:xfrm>
            <a:off x="3701034" y="3703320"/>
            <a:ext cx="2011680" cy="365760"/>
          </a:xfrm>
          <a:prstGeom prst="rect">
            <a:avLst/>
          </a:prstGeom>
          <a:noFill/>
          <a:ln/>
        </p:spPr>
        <p:txBody>
          <a:bodyPr wrap="square" lIns="0" tIns="0" rIns="0" bIns="0" rtlCol="0" anchor="ctr"/>
          <a:lstStyle/>
          <a:p>
            <a:pPr indent="0" marL="0">
              <a:buNone/>
            </a:pPr>
            <a:r>
              <a:rPr lang="en-US" sz="2200" b="1" dirty="0">
                <a:solidFill>
                  <a:schemeClr val="tx2"/>
                </a:solidFill>
              </a:rPr>
              <a:t>Lists</a:t>
            </a:r>
            <a:endParaRPr lang="en-US" sz="2200" dirty="0"/>
          </a:p>
        </p:txBody>
      </p:sp>
      <p:sp>
        <p:nvSpPr>
          <p:cNvPr id="12" name="Text 8"/>
          <p:cNvSpPr txBox="1"/>
          <p:nvPr/>
        </p:nvSpPr>
        <p:spPr>
          <a:xfrm>
            <a:off x="3701034" y="4160520"/>
            <a:ext cx="2011680" cy="1097280"/>
          </a:xfrm>
          <a:prstGeom prst="rect">
            <a:avLst/>
          </a:prstGeom>
          <a:noFill/>
          <a:ln/>
        </p:spPr>
        <p:txBody>
          <a:bodyPr wrap="square" lIns="0" tIns="0" rIns="0" bIns="0" rtlCol="0" anchor="t"/>
          <a:lstStyle/>
          <a:p>
            <a:pPr indent="0" marL="0">
              <a:buNone/>
            </a:pPr>
            <a:r>
              <a:rPr lang="en-US" sz="1500" dirty="0">
                <a:solidFill>
                  <a:schemeClr val="tx1"/>
                </a:solidFill>
              </a:rPr>
              <a:t>Store all tasks in memory and loop through them.</a:t>
            </a:r>
            <a:endParaRPr lang="en-US" sz="1500" dirty="0"/>
          </a:p>
        </p:txBody>
      </p:sp>
      <p:sp>
        <p:nvSpPr>
          <p:cNvPr id="13" name="Technology card 3"/>
          <p:cNvSpPr/>
          <p:nvPr/>
        </p:nvSpPr>
        <p:spPr>
          <a:xfrm>
            <a:off x="6231636" y="2240280"/>
            <a:ext cx="2530602" cy="3017520"/>
          </a:xfrm>
          <a:prstGeom prst="roundRect">
            <a:avLst>
              <a:gd name="adj" fmla="val 5420"/>
            </a:avLst>
          </a:prstGeom>
          <a:solidFill>
            <a:schemeClr val="bg2"/>
          </a:solidFill>
          <a:ln/>
        </p:spPr>
      </p:sp>
      <p:sp>
        <p:nvSpPr>
          <p:cNvPr id="14" name="JSON Files circle"/>
          <p:cNvSpPr/>
          <p:nvPr/>
        </p:nvSpPr>
        <p:spPr>
          <a:xfrm>
            <a:off x="6505956" y="2560320"/>
            <a:ext cx="914400" cy="914400"/>
          </a:xfrm>
          <a:prstGeom prst="ellipse">
            <a:avLst/>
          </a:prstGeom>
          <a:solidFill>
            <a:schemeClr val="accent2"/>
          </a:solidFill>
          <a:ln/>
        </p:spPr>
      </p:sp>
      <p:pic>
        <p:nvPicPr>
          <p:cNvPr id="15" name="Image 2" descr="JSON Files icon">    </p:cNvPr>
          <p:cNvPicPr>
            <a:picLocks noChangeAspect="1"/>
          </p:cNvPicPr>
          <p:nvPr/>
        </p:nvPicPr>
        <p:blipFill>
          <a:blip r:embed="rId3"/>
          <a:stretch>
            <a:fillRect/>
          </a:stretch>
        </p:blipFill>
        <p:spPr>
          <a:xfrm>
            <a:off x="6752844" y="2807208"/>
            <a:ext cx="420624" cy="420624"/>
          </a:xfrm>
          <a:prstGeom prst="rect">
            <a:avLst/>
          </a:prstGeom>
        </p:spPr>
      </p:pic>
      <p:sp>
        <p:nvSpPr>
          <p:cNvPr id="16" name="Text 11"/>
          <p:cNvSpPr txBox="1"/>
          <p:nvPr/>
        </p:nvSpPr>
        <p:spPr>
          <a:xfrm>
            <a:off x="6505956" y="3703320"/>
            <a:ext cx="2011680" cy="365760"/>
          </a:xfrm>
          <a:prstGeom prst="rect">
            <a:avLst/>
          </a:prstGeom>
          <a:noFill/>
          <a:ln/>
        </p:spPr>
        <p:txBody>
          <a:bodyPr wrap="square" lIns="0" tIns="0" rIns="0" bIns="0" rtlCol="0" anchor="ctr"/>
          <a:lstStyle/>
          <a:p>
            <a:pPr indent="0" marL="0">
              <a:buNone/>
            </a:pPr>
            <a:r>
              <a:rPr lang="en-US" sz="2200" b="1" dirty="0">
                <a:solidFill>
                  <a:schemeClr val="tx2"/>
                </a:solidFill>
              </a:rPr>
              <a:t>JSON Files</a:t>
            </a:r>
            <a:endParaRPr lang="en-US" sz="2200" dirty="0"/>
          </a:p>
        </p:txBody>
      </p:sp>
      <p:sp>
        <p:nvSpPr>
          <p:cNvPr id="17" name="Text 12"/>
          <p:cNvSpPr txBox="1"/>
          <p:nvPr/>
        </p:nvSpPr>
        <p:spPr>
          <a:xfrm>
            <a:off x="6505956" y="4160520"/>
            <a:ext cx="2011680" cy="1097280"/>
          </a:xfrm>
          <a:prstGeom prst="rect">
            <a:avLst/>
          </a:prstGeom>
          <a:noFill/>
          <a:ln/>
        </p:spPr>
        <p:txBody>
          <a:bodyPr wrap="square" lIns="0" tIns="0" rIns="0" bIns="0" rtlCol="0" anchor="t"/>
          <a:lstStyle/>
          <a:p>
            <a:pPr indent="0" marL="0">
              <a:buNone/>
            </a:pPr>
            <a:r>
              <a:rPr lang="en-US" sz="1500" dirty="0">
                <a:solidFill>
                  <a:schemeClr val="tx1"/>
                </a:solidFill>
              </a:rPr>
              <a:t>Save tasks to a file so they stay after closing.</a:t>
            </a:r>
            <a:endParaRPr lang="en-US" sz="1500" dirty="0"/>
          </a:p>
        </p:txBody>
      </p:sp>
      <p:sp>
        <p:nvSpPr>
          <p:cNvPr id="18" name="Technology card 4"/>
          <p:cNvSpPr/>
          <p:nvPr/>
        </p:nvSpPr>
        <p:spPr>
          <a:xfrm>
            <a:off x="9036558" y="2240280"/>
            <a:ext cx="2530602" cy="3017520"/>
          </a:xfrm>
          <a:prstGeom prst="roundRect">
            <a:avLst>
              <a:gd name="adj" fmla="val 5420"/>
            </a:avLst>
          </a:prstGeom>
          <a:solidFill>
            <a:schemeClr val="bg2"/>
          </a:solidFill>
          <a:ln/>
        </p:spPr>
      </p:sp>
      <p:sp>
        <p:nvSpPr>
          <p:cNvPr id="19" name="Tkinter circle"/>
          <p:cNvSpPr/>
          <p:nvPr/>
        </p:nvSpPr>
        <p:spPr>
          <a:xfrm>
            <a:off x="9310878" y="2560320"/>
            <a:ext cx="914400" cy="914400"/>
          </a:xfrm>
          <a:prstGeom prst="ellipse">
            <a:avLst/>
          </a:prstGeom>
          <a:solidFill>
            <a:schemeClr val="accent1"/>
          </a:solidFill>
          <a:ln/>
        </p:spPr>
      </p:sp>
      <p:pic>
        <p:nvPicPr>
          <p:cNvPr id="20" name="Image 3" descr="Tkinter icon">    </p:cNvPr>
          <p:cNvPicPr>
            <a:picLocks noChangeAspect="1"/>
          </p:cNvPicPr>
          <p:nvPr/>
        </p:nvPicPr>
        <p:blipFill>
          <a:blip r:embed="rId4"/>
          <a:stretch>
            <a:fillRect/>
          </a:stretch>
        </p:blipFill>
        <p:spPr>
          <a:xfrm>
            <a:off x="9557766" y="2807208"/>
            <a:ext cx="420624" cy="420624"/>
          </a:xfrm>
          <a:prstGeom prst="rect">
            <a:avLst/>
          </a:prstGeom>
        </p:spPr>
      </p:pic>
      <p:sp>
        <p:nvSpPr>
          <p:cNvPr id="21" name="Text 15"/>
          <p:cNvSpPr txBox="1"/>
          <p:nvPr/>
        </p:nvSpPr>
        <p:spPr>
          <a:xfrm>
            <a:off x="9310878" y="3703320"/>
            <a:ext cx="2011680" cy="365760"/>
          </a:xfrm>
          <a:prstGeom prst="rect">
            <a:avLst/>
          </a:prstGeom>
          <a:noFill/>
          <a:ln/>
        </p:spPr>
        <p:txBody>
          <a:bodyPr wrap="square" lIns="0" tIns="0" rIns="0" bIns="0" rtlCol="0" anchor="ctr"/>
          <a:lstStyle/>
          <a:p>
            <a:pPr indent="0" marL="0">
              <a:buNone/>
            </a:pPr>
            <a:r>
              <a:rPr lang="en-US" sz="2200" b="1" dirty="0">
                <a:solidFill>
                  <a:schemeClr val="tx2"/>
                </a:solidFill>
              </a:rPr>
              <a:t>Tkinter</a:t>
            </a:r>
            <a:endParaRPr lang="en-US" sz="2200" dirty="0"/>
          </a:p>
        </p:txBody>
      </p:sp>
      <p:sp>
        <p:nvSpPr>
          <p:cNvPr id="22" name="Text 16"/>
          <p:cNvSpPr txBox="1"/>
          <p:nvPr/>
        </p:nvSpPr>
        <p:spPr>
          <a:xfrm>
            <a:off x="9310878" y="4160520"/>
            <a:ext cx="2011680" cy="1097280"/>
          </a:xfrm>
          <a:prstGeom prst="rect">
            <a:avLst/>
          </a:prstGeom>
          <a:noFill/>
          <a:ln/>
        </p:spPr>
        <p:txBody>
          <a:bodyPr wrap="square" lIns="0" tIns="0" rIns="0" bIns="0" rtlCol="0" anchor="t"/>
          <a:lstStyle/>
          <a:p>
            <a:pPr indent="0" marL="0">
              <a:buNone/>
            </a:pPr>
            <a:r>
              <a:rPr lang="en-US" sz="1500" dirty="0">
                <a:solidFill>
                  <a:schemeClr val="tx1"/>
                </a:solidFill>
              </a:rPr>
              <a:t>Build the window, buttons and task display.</a:t>
            </a:r>
            <a:endParaRPr lang="en-US" sz="1500" dirty="0"/>
          </a:p>
        </p:txBody>
      </p:sp>
      <p:sp>
        <p:nvSpPr>
          <p:cNvPr id="23" name="Callout"/>
          <p:cNvSpPr/>
          <p:nvPr/>
        </p:nvSpPr>
        <p:spPr>
          <a:xfrm>
            <a:off x="621792" y="5532120"/>
            <a:ext cx="10945368" cy="640080"/>
          </a:xfrm>
          <a:prstGeom prst="roundRect">
            <a:avLst>
              <a:gd name="adj" fmla="val 21429"/>
            </a:avLst>
          </a:prstGeom>
          <a:solidFill>
            <a:schemeClr val="bg2"/>
          </a:solidFill>
          <a:ln/>
        </p:spPr>
      </p:sp>
      <p:sp>
        <p:nvSpPr>
          <p:cNvPr id="24" name="Callout circle"/>
          <p:cNvSpPr/>
          <p:nvPr/>
        </p:nvSpPr>
        <p:spPr>
          <a:xfrm>
            <a:off x="850392" y="5577840"/>
            <a:ext cx="548640" cy="548640"/>
          </a:xfrm>
          <a:prstGeom prst="ellipse">
            <a:avLst/>
          </a:prstGeom>
          <a:solidFill>
            <a:schemeClr val="accent4"/>
          </a:solidFill>
          <a:ln/>
        </p:spPr>
      </p:sp>
      <p:pic>
        <p:nvPicPr>
          <p:cNvPr id="25" name="Image 4" descr="Callout icon">    </p:cNvPr>
          <p:cNvPicPr>
            <a:picLocks noChangeAspect="1"/>
          </p:cNvPicPr>
          <p:nvPr/>
        </p:nvPicPr>
        <p:blipFill>
          <a:blip r:embed="rId5"/>
          <a:stretch>
            <a:fillRect/>
          </a:stretch>
        </p:blipFill>
        <p:spPr>
          <a:xfrm>
            <a:off x="998525" y="5725973"/>
            <a:ext cx="252374" cy="252374"/>
          </a:xfrm>
          <a:prstGeom prst="rect">
            <a:avLst/>
          </a:prstGeom>
        </p:spPr>
      </p:pic>
      <p:sp>
        <p:nvSpPr>
          <p:cNvPr id="26" name="Text 19"/>
          <p:cNvSpPr txBox="1"/>
          <p:nvPr/>
        </p:nvSpPr>
        <p:spPr>
          <a:xfrm>
            <a:off x="1627632" y="5532120"/>
            <a:ext cx="9756648" cy="640080"/>
          </a:xfrm>
          <a:prstGeom prst="rect">
            <a:avLst/>
          </a:prstGeom>
          <a:noFill/>
          <a:ln/>
        </p:spPr>
        <p:txBody>
          <a:bodyPr wrap="square" lIns="0" tIns="0" rIns="0" bIns="0" rtlCol="0" anchor="ctr"/>
          <a:lstStyle/>
          <a:p>
            <a:pPr indent="0" marL="0">
              <a:buNone/>
            </a:pPr>
            <a:r>
              <a:rPr lang="en-US" sz="1700" b="1" dirty="0">
                <a:solidFill>
                  <a:schemeClr val="tx2"/>
                </a:solidFill>
              </a:rPr>
              <a:t>Only built-in Python modules are needed: json and tkinter.</a:t>
            </a:r>
            <a:endParaRPr lang="en-US" sz="1700" dirty="0"/>
          </a:p>
        </p:txBody>
      </p:sp>
      <p:sp>
        <p:nvSpPr>
          <p:cNvPr id="25" name="Slide Number Placeholder 0"/>
          <p:cNvSpPr>
            <a:spLocks noGrp="1"/>
          </p:cNvSpPr>
          <p:nvPr>
            <p:ph type="sldNum" sz="quarter" idx="4294967295"/>
          </p:nvPr>
        </p:nvSpPr>
        <p:spPr>
          <a:xfrm>
            <a:off x="10652760"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8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4" type="title" hasCustomPrompt="1"/>
          </p:nvPr>
        </p:nvSpPr>
        <p:spPr>
          <a:xfrm>
            <a:off x="621792" y="1371600"/>
            <a:ext cx="10945368" cy="731520"/>
          </a:xfrm>
          <a:prstGeom prst="rect">
            <a:avLst/>
          </a:prstGeom>
          <a:noFill/>
          <a:ln/>
        </p:spPr>
        <p:txBody>
          <a:bodyPr wrap="square" lIns="0" tIns="0" rIns="0" bIns="0" rtlCol="0" anchor="ctr"/>
          <a:lstStyle/>
          <a:p>
            <a:pPr algn="l" indent="0" marL="0">
              <a:buNone/>
            </a:pPr>
            <a:r>
              <a:rPr lang="en-US" sz="3600" b="1" dirty="0">
                <a:solidFill>
                  <a:schemeClr val="tx2"/>
                </a:solidFill>
              </a:rPr>
              <a:t>System Design</a:t>
            </a:r>
            <a:endParaRPr lang="en-US" sz="3600" dirty="0"/>
          </a:p>
        </p:txBody>
      </p:sp>
      <p:sp>
        <p:nvSpPr>
          <p:cNvPr id="3" name="Flow step 1"/>
          <p:cNvSpPr/>
          <p:nvPr/>
        </p:nvSpPr>
        <p:spPr>
          <a:xfrm>
            <a:off x="621792" y="2240280"/>
            <a:ext cx="3200400" cy="1371600"/>
          </a:xfrm>
          <a:prstGeom prst="roundRect">
            <a:avLst>
              <a:gd name="adj" fmla="val 10000"/>
            </a:avLst>
          </a:prstGeom>
          <a:solidFill>
            <a:schemeClr val="bg2"/>
          </a:solidFill>
          <a:ln/>
        </p:spPr>
      </p:sp>
      <p:sp>
        <p:nvSpPr>
          <p:cNvPr id="4" name="1. Enter task circle"/>
          <p:cNvSpPr/>
          <p:nvPr/>
        </p:nvSpPr>
        <p:spPr>
          <a:xfrm>
            <a:off x="850392" y="2560320"/>
            <a:ext cx="731520" cy="731520"/>
          </a:xfrm>
          <a:prstGeom prst="ellipse">
            <a:avLst/>
          </a:prstGeom>
          <a:solidFill>
            <a:schemeClr val="accent1"/>
          </a:solidFill>
          <a:ln/>
        </p:spPr>
      </p:sp>
      <p:pic>
        <p:nvPicPr>
          <p:cNvPr id="5" name="Image 0" descr="1. Enter task icon">    </p:cNvPr>
          <p:cNvPicPr>
            <a:picLocks noChangeAspect="1"/>
          </p:cNvPicPr>
          <p:nvPr/>
        </p:nvPicPr>
        <p:blipFill>
          <a:blip r:embed="rId1"/>
          <a:stretch>
            <a:fillRect/>
          </a:stretch>
        </p:blipFill>
        <p:spPr>
          <a:xfrm>
            <a:off x="1047902" y="2757830"/>
            <a:ext cx="336499" cy="336499"/>
          </a:xfrm>
          <a:prstGeom prst="rect">
            <a:avLst/>
          </a:prstGeom>
        </p:spPr>
      </p:pic>
      <p:sp>
        <p:nvSpPr>
          <p:cNvPr id="6" name="Text 3"/>
          <p:cNvSpPr txBox="1"/>
          <p:nvPr/>
        </p:nvSpPr>
        <p:spPr>
          <a:xfrm>
            <a:off x="1764792" y="2423160"/>
            <a:ext cx="1965960" cy="365760"/>
          </a:xfrm>
          <a:prstGeom prst="rect">
            <a:avLst/>
          </a:prstGeom>
          <a:noFill/>
          <a:ln/>
        </p:spPr>
        <p:txBody>
          <a:bodyPr wrap="square" lIns="0" tIns="0" rIns="0" bIns="0" rtlCol="0" anchor="ctr"/>
          <a:lstStyle/>
          <a:p>
            <a:pPr indent="0" marL="0">
              <a:buNone/>
            </a:pPr>
            <a:r>
              <a:rPr lang="en-US" sz="1800" b="1" dirty="0">
                <a:solidFill>
                  <a:schemeClr val="tx2"/>
                </a:solidFill>
              </a:rPr>
              <a:t>1. Enter task</a:t>
            </a:r>
            <a:endParaRPr lang="en-US" sz="1800" dirty="0"/>
          </a:p>
        </p:txBody>
      </p:sp>
      <p:sp>
        <p:nvSpPr>
          <p:cNvPr id="7" name="Text 4"/>
          <p:cNvSpPr txBox="1"/>
          <p:nvPr/>
        </p:nvSpPr>
        <p:spPr>
          <a:xfrm>
            <a:off x="1764792" y="2816352"/>
            <a:ext cx="1965960" cy="685800"/>
          </a:xfrm>
          <a:prstGeom prst="rect">
            <a:avLst/>
          </a:prstGeom>
          <a:noFill/>
          <a:ln/>
        </p:spPr>
        <p:txBody>
          <a:bodyPr wrap="square" lIns="0" tIns="0" rIns="0" bIns="0" rtlCol="0" anchor="t"/>
          <a:lstStyle/>
          <a:p>
            <a:pPr indent="0" marL="0">
              <a:buNone/>
            </a:pPr>
            <a:r>
              <a:rPr lang="en-US" sz="1400" dirty="0">
                <a:solidFill>
                  <a:schemeClr val="tx1"/>
                </a:solidFill>
              </a:rPr>
              <a:t>User types a task in the input box</a:t>
            </a:r>
            <a:endParaRPr lang="en-US" sz="1400" dirty="0"/>
          </a:p>
        </p:txBody>
      </p:sp>
      <p:sp>
        <p:nvSpPr>
          <p:cNvPr id="8" name="Flow arrow 1"/>
          <p:cNvSpPr/>
          <p:nvPr/>
        </p:nvSpPr>
        <p:spPr>
          <a:xfrm>
            <a:off x="3931920" y="2743200"/>
            <a:ext cx="457200" cy="365760"/>
          </a:xfrm>
          <a:prstGeom prst="rightArrow">
            <a:avLst/>
          </a:prstGeom>
          <a:solidFill>
            <a:schemeClr val="accent3"/>
          </a:solidFill>
          <a:ln/>
        </p:spPr>
      </p:sp>
      <p:sp>
        <p:nvSpPr>
          <p:cNvPr id="9" name="Flow step 2"/>
          <p:cNvSpPr/>
          <p:nvPr/>
        </p:nvSpPr>
        <p:spPr>
          <a:xfrm>
            <a:off x="4494276" y="2240280"/>
            <a:ext cx="3200400" cy="1371600"/>
          </a:xfrm>
          <a:prstGeom prst="roundRect">
            <a:avLst>
              <a:gd name="adj" fmla="val 10000"/>
            </a:avLst>
          </a:prstGeom>
          <a:solidFill>
            <a:schemeClr val="bg2"/>
          </a:solidFill>
          <a:ln/>
        </p:spPr>
      </p:sp>
      <p:sp>
        <p:nvSpPr>
          <p:cNvPr id="10" name="2. Click Add circle"/>
          <p:cNvSpPr/>
          <p:nvPr/>
        </p:nvSpPr>
        <p:spPr>
          <a:xfrm>
            <a:off x="4722876" y="2560320"/>
            <a:ext cx="731520" cy="731520"/>
          </a:xfrm>
          <a:prstGeom prst="ellipse">
            <a:avLst/>
          </a:prstGeom>
          <a:solidFill>
            <a:schemeClr val="accent2"/>
          </a:solidFill>
          <a:ln/>
        </p:spPr>
      </p:sp>
      <p:pic>
        <p:nvPicPr>
          <p:cNvPr id="11" name="Image 1" descr="2. Click Add icon">    </p:cNvPr>
          <p:cNvPicPr>
            <a:picLocks noChangeAspect="1"/>
          </p:cNvPicPr>
          <p:nvPr/>
        </p:nvPicPr>
        <p:blipFill>
          <a:blip r:embed="rId2"/>
          <a:stretch>
            <a:fillRect/>
          </a:stretch>
        </p:blipFill>
        <p:spPr>
          <a:xfrm>
            <a:off x="4920386" y="2757830"/>
            <a:ext cx="336499" cy="336499"/>
          </a:xfrm>
          <a:prstGeom prst="rect">
            <a:avLst/>
          </a:prstGeom>
        </p:spPr>
      </p:pic>
      <p:sp>
        <p:nvSpPr>
          <p:cNvPr id="12" name="Text 8"/>
          <p:cNvSpPr txBox="1"/>
          <p:nvPr/>
        </p:nvSpPr>
        <p:spPr>
          <a:xfrm>
            <a:off x="5637276" y="2423160"/>
            <a:ext cx="1965960" cy="365760"/>
          </a:xfrm>
          <a:prstGeom prst="rect">
            <a:avLst/>
          </a:prstGeom>
          <a:noFill/>
          <a:ln/>
        </p:spPr>
        <p:txBody>
          <a:bodyPr wrap="square" lIns="0" tIns="0" rIns="0" bIns="0" rtlCol="0" anchor="ctr"/>
          <a:lstStyle/>
          <a:p>
            <a:pPr indent="0" marL="0">
              <a:buNone/>
            </a:pPr>
            <a:r>
              <a:rPr lang="en-US" sz="1800" b="1" dirty="0">
                <a:solidFill>
                  <a:schemeClr val="tx2"/>
                </a:solidFill>
              </a:rPr>
              <a:t>2. Click Add</a:t>
            </a:r>
            <a:endParaRPr lang="en-US" sz="1800" dirty="0"/>
          </a:p>
        </p:txBody>
      </p:sp>
      <p:sp>
        <p:nvSpPr>
          <p:cNvPr id="13" name="Text 9"/>
          <p:cNvSpPr txBox="1"/>
          <p:nvPr/>
        </p:nvSpPr>
        <p:spPr>
          <a:xfrm>
            <a:off x="5637276" y="2816352"/>
            <a:ext cx="1965960" cy="685800"/>
          </a:xfrm>
          <a:prstGeom prst="rect">
            <a:avLst/>
          </a:prstGeom>
          <a:noFill/>
          <a:ln/>
        </p:spPr>
        <p:txBody>
          <a:bodyPr wrap="square" lIns="0" tIns="0" rIns="0" bIns="0" rtlCol="0" anchor="t"/>
          <a:lstStyle/>
          <a:p>
            <a:pPr indent="0" marL="0">
              <a:buNone/>
            </a:pPr>
            <a:r>
              <a:rPr lang="en-US" sz="1400" dirty="0">
                <a:solidFill>
                  <a:schemeClr val="tx1"/>
                </a:solidFill>
              </a:rPr>
              <a:t>Button sends the text to the code</a:t>
            </a:r>
            <a:endParaRPr lang="en-US" sz="1400" dirty="0"/>
          </a:p>
        </p:txBody>
      </p:sp>
      <p:sp>
        <p:nvSpPr>
          <p:cNvPr id="14" name="Flow arrow 2"/>
          <p:cNvSpPr/>
          <p:nvPr/>
        </p:nvSpPr>
        <p:spPr>
          <a:xfrm>
            <a:off x="7804404" y="2743200"/>
            <a:ext cx="457200" cy="365760"/>
          </a:xfrm>
          <a:prstGeom prst="rightArrow">
            <a:avLst/>
          </a:prstGeom>
          <a:solidFill>
            <a:schemeClr val="accent3"/>
          </a:solidFill>
          <a:ln/>
        </p:spPr>
      </p:sp>
      <p:sp>
        <p:nvSpPr>
          <p:cNvPr id="15" name="Flow step 3"/>
          <p:cNvSpPr/>
          <p:nvPr/>
        </p:nvSpPr>
        <p:spPr>
          <a:xfrm>
            <a:off x="8366760" y="2240280"/>
            <a:ext cx="3200400" cy="1371600"/>
          </a:xfrm>
          <a:prstGeom prst="roundRect">
            <a:avLst>
              <a:gd name="adj" fmla="val 10000"/>
            </a:avLst>
          </a:prstGeom>
          <a:solidFill>
            <a:schemeClr val="bg2"/>
          </a:solidFill>
          <a:ln/>
        </p:spPr>
      </p:sp>
      <p:sp>
        <p:nvSpPr>
          <p:cNvPr id="16" name="3. Check input circle"/>
          <p:cNvSpPr/>
          <p:nvPr/>
        </p:nvSpPr>
        <p:spPr>
          <a:xfrm>
            <a:off x="8595360" y="2560320"/>
            <a:ext cx="731520" cy="731520"/>
          </a:xfrm>
          <a:prstGeom prst="ellipse">
            <a:avLst/>
          </a:prstGeom>
          <a:solidFill>
            <a:schemeClr val="accent1"/>
          </a:solidFill>
          <a:ln/>
        </p:spPr>
      </p:sp>
      <p:pic>
        <p:nvPicPr>
          <p:cNvPr id="17" name="Image 2" descr="3. Check input icon">    </p:cNvPr>
          <p:cNvPicPr>
            <a:picLocks noChangeAspect="1"/>
          </p:cNvPicPr>
          <p:nvPr/>
        </p:nvPicPr>
        <p:blipFill>
          <a:blip r:embed="rId3"/>
          <a:stretch>
            <a:fillRect/>
          </a:stretch>
        </p:blipFill>
        <p:spPr>
          <a:xfrm>
            <a:off x="8792870" y="2757830"/>
            <a:ext cx="336499" cy="336499"/>
          </a:xfrm>
          <a:prstGeom prst="rect">
            <a:avLst/>
          </a:prstGeom>
        </p:spPr>
      </p:pic>
      <p:sp>
        <p:nvSpPr>
          <p:cNvPr id="18" name="Text 13"/>
          <p:cNvSpPr txBox="1"/>
          <p:nvPr/>
        </p:nvSpPr>
        <p:spPr>
          <a:xfrm>
            <a:off x="9509760" y="2423160"/>
            <a:ext cx="1965960" cy="365760"/>
          </a:xfrm>
          <a:prstGeom prst="rect">
            <a:avLst/>
          </a:prstGeom>
          <a:noFill/>
          <a:ln/>
        </p:spPr>
        <p:txBody>
          <a:bodyPr wrap="square" lIns="0" tIns="0" rIns="0" bIns="0" rtlCol="0" anchor="ctr"/>
          <a:lstStyle/>
          <a:p>
            <a:pPr indent="0" marL="0">
              <a:buNone/>
            </a:pPr>
            <a:r>
              <a:rPr lang="en-US" sz="1800" b="1" dirty="0">
                <a:solidFill>
                  <a:schemeClr val="tx2"/>
                </a:solidFill>
              </a:rPr>
              <a:t>3. Check input</a:t>
            </a:r>
            <a:endParaRPr lang="en-US" sz="1800" dirty="0"/>
          </a:p>
        </p:txBody>
      </p:sp>
      <p:sp>
        <p:nvSpPr>
          <p:cNvPr id="19" name="Text 14"/>
          <p:cNvSpPr txBox="1"/>
          <p:nvPr/>
        </p:nvSpPr>
        <p:spPr>
          <a:xfrm>
            <a:off x="9509760" y="2816352"/>
            <a:ext cx="1965960" cy="685800"/>
          </a:xfrm>
          <a:prstGeom prst="rect">
            <a:avLst/>
          </a:prstGeom>
          <a:noFill/>
          <a:ln/>
        </p:spPr>
        <p:txBody>
          <a:bodyPr wrap="square" lIns="0" tIns="0" rIns="0" bIns="0" rtlCol="0" anchor="t"/>
          <a:lstStyle/>
          <a:p>
            <a:pPr indent="0" marL="0">
              <a:buNone/>
            </a:pPr>
            <a:r>
              <a:rPr lang="en-US" sz="1400" dirty="0">
                <a:solidFill>
                  <a:schemeClr val="tx1"/>
                </a:solidFill>
              </a:rPr>
              <a:t>Empty tasks are not added</a:t>
            </a:r>
            <a:endParaRPr lang="en-US" sz="1400" dirty="0"/>
          </a:p>
        </p:txBody>
      </p:sp>
      <p:sp>
        <p:nvSpPr>
          <p:cNvPr id="20" name="Flow step 4"/>
          <p:cNvSpPr/>
          <p:nvPr/>
        </p:nvSpPr>
        <p:spPr>
          <a:xfrm>
            <a:off x="621792" y="3977640"/>
            <a:ext cx="3200400" cy="1371600"/>
          </a:xfrm>
          <a:prstGeom prst="roundRect">
            <a:avLst>
              <a:gd name="adj" fmla="val 10000"/>
            </a:avLst>
          </a:prstGeom>
          <a:solidFill>
            <a:schemeClr val="bg2"/>
          </a:solidFill>
          <a:ln/>
        </p:spPr>
      </p:sp>
      <p:sp>
        <p:nvSpPr>
          <p:cNvPr id="21" name="4. Update list circle"/>
          <p:cNvSpPr/>
          <p:nvPr/>
        </p:nvSpPr>
        <p:spPr>
          <a:xfrm>
            <a:off x="850392" y="4297680"/>
            <a:ext cx="731520" cy="731520"/>
          </a:xfrm>
          <a:prstGeom prst="ellipse">
            <a:avLst/>
          </a:prstGeom>
          <a:solidFill>
            <a:schemeClr val="accent2"/>
          </a:solidFill>
          <a:ln/>
        </p:spPr>
      </p:sp>
      <p:pic>
        <p:nvPicPr>
          <p:cNvPr id="22" name="Image 3" descr="4. Update list icon">    </p:cNvPr>
          <p:cNvPicPr>
            <a:picLocks noChangeAspect="1"/>
          </p:cNvPicPr>
          <p:nvPr/>
        </p:nvPicPr>
        <p:blipFill>
          <a:blip r:embed="rId4"/>
          <a:stretch>
            <a:fillRect/>
          </a:stretch>
        </p:blipFill>
        <p:spPr>
          <a:xfrm>
            <a:off x="1047902" y="4495190"/>
            <a:ext cx="336499" cy="336499"/>
          </a:xfrm>
          <a:prstGeom prst="rect">
            <a:avLst/>
          </a:prstGeom>
        </p:spPr>
      </p:pic>
      <p:sp>
        <p:nvSpPr>
          <p:cNvPr id="23" name="Text 17"/>
          <p:cNvSpPr txBox="1"/>
          <p:nvPr/>
        </p:nvSpPr>
        <p:spPr>
          <a:xfrm>
            <a:off x="1764792" y="4160520"/>
            <a:ext cx="1965960" cy="365760"/>
          </a:xfrm>
          <a:prstGeom prst="rect">
            <a:avLst/>
          </a:prstGeom>
          <a:noFill/>
          <a:ln/>
        </p:spPr>
        <p:txBody>
          <a:bodyPr wrap="square" lIns="0" tIns="0" rIns="0" bIns="0" rtlCol="0" anchor="ctr"/>
          <a:lstStyle/>
          <a:p>
            <a:pPr indent="0" marL="0">
              <a:buNone/>
            </a:pPr>
            <a:r>
              <a:rPr lang="en-US" sz="1800" b="1" dirty="0">
                <a:solidFill>
                  <a:schemeClr val="tx2"/>
                </a:solidFill>
              </a:rPr>
              <a:t>4. Update list</a:t>
            </a:r>
            <a:endParaRPr lang="en-US" sz="1800" dirty="0"/>
          </a:p>
        </p:txBody>
      </p:sp>
      <p:sp>
        <p:nvSpPr>
          <p:cNvPr id="24" name="Text 18"/>
          <p:cNvSpPr txBox="1"/>
          <p:nvPr/>
        </p:nvSpPr>
        <p:spPr>
          <a:xfrm>
            <a:off x="1764792" y="4553712"/>
            <a:ext cx="1965960" cy="685800"/>
          </a:xfrm>
          <a:prstGeom prst="rect">
            <a:avLst/>
          </a:prstGeom>
          <a:noFill/>
          <a:ln/>
        </p:spPr>
        <p:txBody>
          <a:bodyPr wrap="square" lIns="0" tIns="0" rIns="0" bIns="0" rtlCol="0" anchor="t"/>
          <a:lstStyle/>
          <a:p>
            <a:pPr indent="0" marL="0">
              <a:buNone/>
            </a:pPr>
            <a:r>
              <a:rPr lang="en-US" sz="1400" dirty="0">
                <a:solidFill>
                  <a:schemeClr val="tx1"/>
                </a:solidFill>
              </a:rPr>
              <a:t>Task is added to the Python list</a:t>
            </a:r>
            <a:endParaRPr lang="en-US" sz="1400" dirty="0"/>
          </a:p>
        </p:txBody>
      </p:sp>
      <p:sp>
        <p:nvSpPr>
          <p:cNvPr id="25" name="Flow arrow 4"/>
          <p:cNvSpPr/>
          <p:nvPr/>
        </p:nvSpPr>
        <p:spPr>
          <a:xfrm>
            <a:off x="3931920" y="4480560"/>
            <a:ext cx="457200" cy="365760"/>
          </a:xfrm>
          <a:prstGeom prst="rightArrow">
            <a:avLst/>
          </a:prstGeom>
          <a:solidFill>
            <a:schemeClr val="accent3"/>
          </a:solidFill>
          <a:ln/>
        </p:spPr>
      </p:sp>
      <p:sp>
        <p:nvSpPr>
          <p:cNvPr id="26" name="Flow step 5"/>
          <p:cNvSpPr/>
          <p:nvPr/>
        </p:nvSpPr>
        <p:spPr>
          <a:xfrm>
            <a:off x="4494276" y="3977640"/>
            <a:ext cx="3200400" cy="1371600"/>
          </a:xfrm>
          <a:prstGeom prst="roundRect">
            <a:avLst>
              <a:gd name="adj" fmla="val 10000"/>
            </a:avLst>
          </a:prstGeom>
          <a:solidFill>
            <a:schemeClr val="bg2"/>
          </a:solidFill>
          <a:ln/>
        </p:spPr>
      </p:sp>
      <p:sp>
        <p:nvSpPr>
          <p:cNvPr id="27" name="5. Save to file circle"/>
          <p:cNvSpPr/>
          <p:nvPr/>
        </p:nvSpPr>
        <p:spPr>
          <a:xfrm>
            <a:off x="4722876" y="4297680"/>
            <a:ext cx="731520" cy="731520"/>
          </a:xfrm>
          <a:prstGeom prst="ellipse">
            <a:avLst/>
          </a:prstGeom>
          <a:solidFill>
            <a:schemeClr val="accent1"/>
          </a:solidFill>
          <a:ln/>
        </p:spPr>
      </p:sp>
      <p:pic>
        <p:nvPicPr>
          <p:cNvPr id="28" name="Image 4" descr="5. Save to file icon">    </p:cNvPr>
          <p:cNvPicPr>
            <a:picLocks noChangeAspect="1"/>
          </p:cNvPicPr>
          <p:nvPr/>
        </p:nvPicPr>
        <p:blipFill>
          <a:blip r:embed="rId5"/>
          <a:stretch>
            <a:fillRect/>
          </a:stretch>
        </p:blipFill>
        <p:spPr>
          <a:xfrm>
            <a:off x="4920386" y="4495190"/>
            <a:ext cx="336499" cy="336499"/>
          </a:xfrm>
          <a:prstGeom prst="rect">
            <a:avLst/>
          </a:prstGeom>
        </p:spPr>
      </p:pic>
      <p:sp>
        <p:nvSpPr>
          <p:cNvPr id="29" name="Text 22"/>
          <p:cNvSpPr txBox="1"/>
          <p:nvPr/>
        </p:nvSpPr>
        <p:spPr>
          <a:xfrm>
            <a:off x="5637276" y="4160520"/>
            <a:ext cx="1965960" cy="365760"/>
          </a:xfrm>
          <a:prstGeom prst="rect">
            <a:avLst/>
          </a:prstGeom>
          <a:noFill/>
          <a:ln/>
        </p:spPr>
        <p:txBody>
          <a:bodyPr wrap="square" lIns="0" tIns="0" rIns="0" bIns="0" rtlCol="0" anchor="ctr"/>
          <a:lstStyle/>
          <a:p>
            <a:pPr indent="0" marL="0">
              <a:buNone/>
            </a:pPr>
            <a:r>
              <a:rPr lang="en-US" sz="1800" b="1" dirty="0">
                <a:solidFill>
                  <a:schemeClr val="tx2"/>
                </a:solidFill>
              </a:rPr>
              <a:t>5. Save to file</a:t>
            </a:r>
            <a:endParaRPr lang="en-US" sz="1800" dirty="0"/>
          </a:p>
        </p:txBody>
      </p:sp>
      <p:sp>
        <p:nvSpPr>
          <p:cNvPr id="30" name="Text 23"/>
          <p:cNvSpPr txBox="1"/>
          <p:nvPr/>
        </p:nvSpPr>
        <p:spPr>
          <a:xfrm>
            <a:off x="5637276" y="4553712"/>
            <a:ext cx="1965960" cy="685800"/>
          </a:xfrm>
          <a:prstGeom prst="rect">
            <a:avLst/>
          </a:prstGeom>
          <a:noFill/>
          <a:ln/>
        </p:spPr>
        <p:txBody>
          <a:bodyPr wrap="square" lIns="0" tIns="0" rIns="0" bIns="0" rtlCol="0" anchor="t"/>
          <a:lstStyle/>
          <a:p>
            <a:pPr indent="0" marL="0">
              <a:buNone/>
            </a:pPr>
            <a:r>
              <a:rPr lang="en-US" sz="1400" dirty="0">
                <a:solidFill>
                  <a:schemeClr val="tx1"/>
                </a:solidFill>
              </a:rPr>
              <a:t>List is written to tasks.json</a:t>
            </a:r>
            <a:endParaRPr lang="en-US" sz="1400" dirty="0"/>
          </a:p>
        </p:txBody>
      </p:sp>
      <p:sp>
        <p:nvSpPr>
          <p:cNvPr id="31" name="Flow arrow 5"/>
          <p:cNvSpPr/>
          <p:nvPr/>
        </p:nvSpPr>
        <p:spPr>
          <a:xfrm>
            <a:off x="7804404" y="4480560"/>
            <a:ext cx="457200" cy="365760"/>
          </a:xfrm>
          <a:prstGeom prst="rightArrow">
            <a:avLst/>
          </a:prstGeom>
          <a:solidFill>
            <a:schemeClr val="accent3"/>
          </a:solidFill>
          <a:ln/>
        </p:spPr>
      </p:sp>
      <p:sp>
        <p:nvSpPr>
          <p:cNvPr id="32" name="Flow step 6"/>
          <p:cNvSpPr/>
          <p:nvPr/>
        </p:nvSpPr>
        <p:spPr>
          <a:xfrm>
            <a:off x="8366760" y="3977640"/>
            <a:ext cx="3200400" cy="1371600"/>
          </a:xfrm>
          <a:prstGeom prst="roundRect">
            <a:avLst>
              <a:gd name="adj" fmla="val 10000"/>
            </a:avLst>
          </a:prstGeom>
          <a:solidFill>
            <a:schemeClr val="bg2"/>
          </a:solidFill>
          <a:ln/>
        </p:spPr>
      </p:sp>
      <p:sp>
        <p:nvSpPr>
          <p:cNvPr id="33" name="6. Show tasks circle"/>
          <p:cNvSpPr/>
          <p:nvPr/>
        </p:nvSpPr>
        <p:spPr>
          <a:xfrm>
            <a:off x="8595360" y="4297680"/>
            <a:ext cx="731520" cy="731520"/>
          </a:xfrm>
          <a:prstGeom prst="ellipse">
            <a:avLst/>
          </a:prstGeom>
          <a:solidFill>
            <a:schemeClr val="accent2"/>
          </a:solidFill>
          <a:ln/>
        </p:spPr>
      </p:sp>
      <p:pic>
        <p:nvPicPr>
          <p:cNvPr id="34" name="Image 5" descr="6. Show tasks icon">    </p:cNvPr>
          <p:cNvPicPr>
            <a:picLocks noChangeAspect="1"/>
          </p:cNvPicPr>
          <p:nvPr/>
        </p:nvPicPr>
        <p:blipFill>
          <a:blip r:embed="rId6"/>
          <a:stretch>
            <a:fillRect/>
          </a:stretch>
        </p:blipFill>
        <p:spPr>
          <a:xfrm>
            <a:off x="8792870" y="4495190"/>
            <a:ext cx="336499" cy="336499"/>
          </a:xfrm>
          <a:prstGeom prst="rect">
            <a:avLst/>
          </a:prstGeom>
        </p:spPr>
      </p:pic>
      <p:sp>
        <p:nvSpPr>
          <p:cNvPr id="35" name="Text 27"/>
          <p:cNvSpPr txBox="1"/>
          <p:nvPr/>
        </p:nvSpPr>
        <p:spPr>
          <a:xfrm>
            <a:off x="9509760" y="4160520"/>
            <a:ext cx="1965960" cy="365760"/>
          </a:xfrm>
          <a:prstGeom prst="rect">
            <a:avLst/>
          </a:prstGeom>
          <a:noFill/>
          <a:ln/>
        </p:spPr>
        <p:txBody>
          <a:bodyPr wrap="square" lIns="0" tIns="0" rIns="0" bIns="0" rtlCol="0" anchor="ctr"/>
          <a:lstStyle/>
          <a:p>
            <a:pPr indent="0" marL="0">
              <a:buNone/>
            </a:pPr>
            <a:r>
              <a:rPr lang="en-US" sz="1800" b="1" dirty="0">
                <a:solidFill>
                  <a:schemeClr val="tx2"/>
                </a:solidFill>
              </a:rPr>
              <a:t>6. Show tasks</a:t>
            </a:r>
            <a:endParaRPr lang="en-US" sz="1800" dirty="0"/>
          </a:p>
        </p:txBody>
      </p:sp>
      <p:sp>
        <p:nvSpPr>
          <p:cNvPr id="36" name="Text 28"/>
          <p:cNvSpPr txBox="1"/>
          <p:nvPr/>
        </p:nvSpPr>
        <p:spPr>
          <a:xfrm>
            <a:off x="9509760" y="4553712"/>
            <a:ext cx="1965960" cy="685800"/>
          </a:xfrm>
          <a:prstGeom prst="rect">
            <a:avLst/>
          </a:prstGeom>
          <a:noFill/>
          <a:ln/>
        </p:spPr>
        <p:txBody>
          <a:bodyPr wrap="square" lIns="0" tIns="0" rIns="0" bIns="0" rtlCol="0" anchor="t"/>
          <a:lstStyle/>
          <a:p>
            <a:pPr indent="0" marL="0">
              <a:buNone/>
            </a:pPr>
            <a:r>
              <a:rPr lang="en-US" sz="1400" dirty="0">
                <a:solidFill>
                  <a:schemeClr val="tx1"/>
                </a:solidFill>
              </a:rPr>
              <a:t>Window refreshes with the new list</a:t>
            </a:r>
            <a:endParaRPr lang="en-US" sz="1400" dirty="0"/>
          </a:p>
        </p:txBody>
      </p:sp>
      <p:sp>
        <p:nvSpPr>
          <p:cNvPr id="37" name="Flow connector 1"/>
          <p:cNvSpPr/>
          <p:nvPr/>
        </p:nvSpPr>
        <p:spPr>
          <a:xfrm>
            <a:off x="9966960" y="3611880"/>
            <a:ext cx="0" cy="182880"/>
          </a:xfrm>
          <a:prstGeom prst="line">
            <a:avLst/>
          </a:prstGeom>
          <a:noFill/>
          <a:ln w="38100">
            <a:solidFill>
              <a:schemeClr val="accent3"/>
            </a:solidFill>
            <a:prstDash val="solid"/>
          </a:ln>
        </p:spPr>
      </p:sp>
      <p:sp>
        <p:nvSpPr>
          <p:cNvPr id="38" name="Flow connector 2"/>
          <p:cNvSpPr/>
          <p:nvPr/>
        </p:nvSpPr>
        <p:spPr>
          <a:xfrm>
            <a:off x="2221992" y="3794760"/>
            <a:ext cx="7744968" cy="0"/>
          </a:xfrm>
          <a:prstGeom prst="line">
            <a:avLst/>
          </a:prstGeom>
          <a:noFill/>
          <a:ln w="38100">
            <a:solidFill>
              <a:schemeClr val="accent3"/>
            </a:solidFill>
            <a:prstDash val="solid"/>
          </a:ln>
        </p:spPr>
      </p:sp>
      <p:sp>
        <p:nvSpPr>
          <p:cNvPr id="39" name="Flow connector 3"/>
          <p:cNvSpPr/>
          <p:nvPr/>
        </p:nvSpPr>
        <p:spPr>
          <a:xfrm>
            <a:off x="2221992" y="3794760"/>
            <a:ext cx="0" cy="182880"/>
          </a:xfrm>
          <a:prstGeom prst="line">
            <a:avLst/>
          </a:prstGeom>
          <a:noFill/>
          <a:ln w="38100">
            <a:solidFill>
              <a:schemeClr val="accent3"/>
            </a:solidFill>
            <a:prstDash val="solid"/>
            <a:tailEnd type="triangle"/>
          </a:ln>
        </p:spPr>
      </p:sp>
      <p:sp>
        <p:nvSpPr>
          <p:cNvPr id="40" name="Callout"/>
          <p:cNvSpPr/>
          <p:nvPr/>
        </p:nvSpPr>
        <p:spPr>
          <a:xfrm>
            <a:off x="621792" y="5577840"/>
            <a:ext cx="10945368" cy="640080"/>
          </a:xfrm>
          <a:prstGeom prst="roundRect">
            <a:avLst>
              <a:gd name="adj" fmla="val 21429"/>
            </a:avLst>
          </a:prstGeom>
          <a:solidFill>
            <a:schemeClr val="bg2"/>
          </a:solidFill>
          <a:ln/>
        </p:spPr>
      </p:sp>
      <p:sp>
        <p:nvSpPr>
          <p:cNvPr id="41" name="Callout circle"/>
          <p:cNvSpPr/>
          <p:nvPr/>
        </p:nvSpPr>
        <p:spPr>
          <a:xfrm>
            <a:off x="850392" y="5623560"/>
            <a:ext cx="548640" cy="548640"/>
          </a:xfrm>
          <a:prstGeom prst="ellipse">
            <a:avLst/>
          </a:prstGeom>
          <a:solidFill>
            <a:schemeClr val="accent4"/>
          </a:solidFill>
          <a:ln/>
        </p:spPr>
      </p:sp>
      <p:pic>
        <p:nvPicPr>
          <p:cNvPr id="42" name="Image 6" descr="Callout icon">    </p:cNvPr>
          <p:cNvPicPr>
            <a:picLocks noChangeAspect="1"/>
          </p:cNvPicPr>
          <p:nvPr/>
        </p:nvPicPr>
        <p:blipFill>
          <a:blip r:embed="rId7"/>
          <a:stretch>
            <a:fillRect/>
          </a:stretch>
        </p:blipFill>
        <p:spPr>
          <a:xfrm>
            <a:off x="998525" y="5771693"/>
            <a:ext cx="252374" cy="252374"/>
          </a:xfrm>
          <a:prstGeom prst="rect">
            <a:avLst/>
          </a:prstGeom>
        </p:spPr>
      </p:pic>
      <p:sp>
        <p:nvSpPr>
          <p:cNvPr id="43" name="Text 34"/>
          <p:cNvSpPr txBox="1"/>
          <p:nvPr/>
        </p:nvSpPr>
        <p:spPr>
          <a:xfrm>
            <a:off x="1627632" y="5577840"/>
            <a:ext cx="9756648" cy="640080"/>
          </a:xfrm>
          <a:prstGeom prst="rect">
            <a:avLst/>
          </a:prstGeom>
          <a:noFill/>
          <a:ln/>
        </p:spPr>
        <p:txBody>
          <a:bodyPr wrap="square" lIns="0" tIns="0" rIns="0" bIns="0" rtlCol="0" anchor="ctr"/>
          <a:lstStyle/>
          <a:p>
            <a:pPr indent="0" marL="0">
              <a:buNone/>
            </a:pPr>
            <a:r>
              <a:rPr lang="en-US" sz="1700" b="1" dirty="0">
                <a:solidFill>
                  <a:schemeClr val="tx2"/>
                </a:solidFill>
              </a:rPr>
              <a:t>On startup, the app reads tasks.json and loads it into the list.</a:t>
            </a:r>
            <a:endParaRPr lang="en-US" sz="1700" dirty="0"/>
          </a:p>
        </p:txBody>
      </p:sp>
      <p:sp>
        <p:nvSpPr>
          <p:cNvPr id="25" name="Slide Number Placeholder 0"/>
          <p:cNvSpPr>
            <a:spLocks noGrp="1"/>
          </p:cNvSpPr>
          <p:nvPr>
            <p:ph type="sldNum" sz="quarter" idx="4294967295"/>
          </p:nvPr>
        </p:nvSpPr>
        <p:spPr>
          <a:xfrm>
            <a:off x="10652760"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8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4" type="title" hasCustomPrompt="1"/>
          </p:nvPr>
        </p:nvSpPr>
        <p:spPr>
          <a:xfrm>
            <a:off x="621792" y="1371600"/>
            <a:ext cx="10945368" cy="731520"/>
          </a:xfrm>
          <a:prstGeom prst="rect">
            <a:avLst/>
          </a:prstGeom>
          <a:noFill/>
          <a:ln/>
        </p:spPr>
        <p:txBody>
          <a:bodyPr wrap="square" lIns="0" tIns="0" rIns="0" bIns="0" rtlCol="0" anchor="ctr"/>
          <a:lstStyle/>
          <a:p>
            <a:pPr algn="l" indent="0" marL="0">
              <a:buNone/>
            </a:pPr>
            <a:r>
              <a:rPr lang="en-US" sz="3600" b="1" dirty="0">
                <a:solidFill>
                  <a:schemeClr val="tx2"/>
                </a:solidFill>
              </a:rPr>
              <a:t>Features and Implementation</a:t>
            </a:r>
            <a:endParaRPr lang="en-US" sz="3600" dirty="0"/>
          </a:p>
        </p:txBody>
      </p:sp>
      <p:sp>
        <p:nvSpPr>
          <p:cNvPr id="3" name="Feature row 1"/>
          <p:cNvSpPr/>
          <p:nvPr/>
        </p:nvSpPr>
        <p:spPr>
          <a:xfrm>
            <a:off x="621792" y="2240280"/>
            <a:ext cx="6035040" cy="868680"/>
          </a:xfrm>
          <a:prstGeom prst="roundRect">
            <a:avLst>
              <a:gd name="adj" fmla="val 15789"/>
            </a:avLst>
          </a:prstGeom>
          <a:solidFill>
            <a:schemeClr val="bg2"/>
          </a:solidFill>
          <a:ln/>
        </p:spPr>
      </p:sp>
      <p:sp>
        <p:nvSpPr>
          <p:cNvPr id="4" name="Add Task circle"/>
          <p:cNvSpPr/>
          <p:nvPr/>
        </p:nvSpPr>
        <p:spPr>
          <a:xfrm>
            <a:off x="804672" y="2354580"/>
            <a:ext cx="640080" cy="640080"/>
          </a:xfrm>
          <a:prstGeom prst="ellipse">
            <a:avLst/>
          </a:prstGeom>
          <a:solidFill>
            <a:schemeClr val="accent2"/>
          </a:solidFill>
          <a:ln/>
        </p:spPr>
      </p:sp>
      <p:pic>
        <p:nvPicPr>
          <p:cNvPr id="5" name="Image 0" descr="Add Task icon">    </p:cNvPr>
          <p:cNvPicPr>
            <a:picLocks noChangeAspect="1"/>
          </p:cNvPicPr>
          <p:nvPr/>
        </p:nvPicPr>
        <p:blipFill>
          <a:blip r:embed="rId1"/>
          <a:stretch>
            <a:fillRect/>
          </a:stretch>
        </p:blipFill>
        <p:spPr>
          <a:xfrm>
            <a:off x="977494" y="2527402"/>
            <a:ext cx="294437" cy="294437"/>
          </a:xfrm>
          <a:prstGeom prst="rect">
            <a:avLst/>
          </a:prstGeom>
        </p:spPr>
      </p:pic>
      <p:sp>
        <p:nvSpPr>
          <p:cNvPr id="6" name="Text 3"/>
          <p:cNvSpPr txBox="1"/>
          <p:nvPr/>
        </p:nvSpPr>
        <p:spPr>
          <a:xfrm>
            <a:off x="1645920" y="2331720"/>
            <a:ext cx="4846320" cy="347472"/>
          </a:xfrm>
          <a:prstGeom prst="rect">
            <a:avLst/>
          </a:prstGeom>
          <a:noFill/>
          <a:ln/>
        </p:spPr>
        <p:txBody>
          <a:bodyPr wrap="square" lIns="0" tIns="0" rIns="0" bIns="0" rtlCol="0" anchor="ctr"/>
          <a:lstStyle/>
          <a:p>
            <a:pPr indent="0" marL="0">
              <a:buNone/>
            </a:pPr>
            <a:r>
              <a:rPr lang="en-US" sz="1800" b="1" dirty="0">
                <a:solidFill>
                  <a:schemeClr val="tx2"/>
                </a:solidFill>
              </a:rPr>
              <a:t>Add Task</a:t>
            </a:r>
            <a:endParaRPr lang="en-US" sz="1800" dirty="0"/>
          </a:p>
        </p:txBody>
      </p:sp>
      <p:sp>
        <p:nvSpPr>
          <p:cNvPr id="7" name="Text 4"/>
          <p:cNvSpPr txBox="1"/>
          <p:nvPr/>
        </p:nvSpPr>
        <p:spPr>
          <a:xfrm>
            <a:off x="1645920" y="2697480"/>
            <a:ext cx="4846320" cy="320040"/>
          </a:xfrm>
          <a:prstGeom prst="rect">
            <a:avLst/>
          </a:prstGeom>
          <a:noFill/>
          <a:ln/>
        </p:spPr>
        <p:txBody>
          <a:bodyPr wrap="square" lIns="0" tIns="0" rIns="0" bIns="0" rtlCol="0" anchor="ctr"/>
          <a:lstStyle/>
          <a:p>
            <a:pPr indent="0" marL="0">
              <a:buNone/>
            </a:pPr>
            <a:r>
              <a:rPr lang="en-US" sz="1400" dirty="0">
                <a:solidFill>
                  <a:schemeClr val="tx1"/>
                </a:solidFill>
              </a:rPr>
              <a:t>Read the text, append to the list, save</a:t>
            </a:r>
            <a:endParaRPr lang="en-US" sz="1400" dirty="0"/>
          </a:p>
        </p:txBody>
      </p:sp>
      <p:sp>
        <p:nvSpPr>
          <p:cNvPr id="8" name="Feature row 2"/>
          <p:cNvSpPr/>
          <p:nvPr/>
        </p:nvSpPr>
        <p:spPr>
          <a:xfrm>
            <a:off x="621792" y="3246120"/>
            <a:ext cx="6035040" cy="868680"/>
          </a:xfrm>
          <a:prstGeom prst="roundRect">
            <a:avLst>
              <a:gd name="adj" fmla="val 15789"/>
            </a:avLst>
          </a:prstGeom>
          <a:solidFill>
            <a:schemeClr val="bg2"/>
          </a:solidFill>
          <a:ln/>
        </p:spPr>
      </p:sp>
      <p:sp>
        <p:nvSpPr>
          <p:cNvPr id="9" name="Mark Complete circle"/>
          <p:cNvSpPr/>
          <p:nvPr/>
        </p:nvSpPr>
        <p:spPr>
          <a:xfrm>
            <a:off x="804672" y="3360420"/>
            <a:ext cx="640080" cy="640080"/>
          </a:xfrm>
          <a:prstGeom prst="ellipse">
            <a:avLst/>
          </a:prstGeom>
          <a:solidFill>
            <a:schemeClr val="accent1"/>
          </a:solidFill>
          <a:ln/>
        </p:spPr>
      </p:sp>
      <p:pic>
        <p:nvPicPr>
          <p:cNvPr id="10" name="Image 1" descr="Mark Complete icon">    </p:cNvPr>
          <p:cNvPicPr>
            <a:picLocks noChangeAspect="1"/>
          </p:cNvPicPr>
          <p:nvPr/>
        </p:nvPicPr>
        <p:blipFill>
          <a:blip r:embed="rId2"/>
          <a:stretch>
            <a:fillRect/>
          </a:stretch>
        </p:blipFill>
        <p:spPr>
          <a:xfrm>
            <a:off x="977494" y="3533242"/>
            <a:ext cx="294437" cy="294437"/>
          </a:xfrm>
          <a:prstGeom prst="rect">
            <a:avLst/>
          </a:prstGeom>
        </p:spPr>
      </p:pic>
      <p:sp>
        <p:nvSpPr>
          <p:cNvPr id="11" name="Text 7"/>
          <p:cNvSpPr txBox="1"/>
          <p:nvPr/>
        </p:nvSpPr>
        <p:spPr>
          <a:xfrm>
            <a:off x="1645920" y="3337560"/>
            <a:ext cx="4846320" cy="347472"/>
          </a:xfrm>
          <a:prstGeom prst="rect">
            <a:avLst/>
          </a:prstGeom>
          <a:noFill/>
          <a:ln/>
        </p:spPr>
        <p:txBody>
          <a:bodyPr wrap="square" lIns="0" tIns="0" rIns="0" bIns="0" rtlCol="0" anchor="ctr"/>
          <a:lstStyle/>
          <a:p>
            <a:pPr indent="0" marL="0">
              <a:buNone/>
            </a:pPr>
            <a:r>
              <a:rPr lang="en-US" sz="1800" b="1" dirty="0">
                <a:solidFill>
                  <a:schemeClr val="tx2"/>
                </a:solidFill>
              </a:rPr>
              <a:t>Mark Complete</a:t>
            </a:r>
            <a:endParaRPr lang="en-US" sz="1800" dirty="0"/>
          </a:p>
        </p:txBody>
      </p:sp>
      <p:sp>
        <p:nvSpPr>
          <p:cNvPr id="12" name="Text 8"/>
          <p:cNvSpPr txBox="1"/>
          <p:nvPr/>
        </p:nvSpPr>
        <p:spPr>
          <a:xfrm>
            <a:off x="1645920" y="3703320"/>
            <a:ext cx="4846320" cy="320040"/>
          </a:xfrm>
          <a:prstGeom prst="rect">
            <a:avLst/>
          </a:prstGeom>
          <a:noFill/>
          <a:ln/>
        </p:spPr>
        <p:txBody>
          <a:bodyPr wrap="square" lIns="0" tIns="0" rIns="0" bIns="0" rtlCol="0" anchor="ctr"/>
          <a:lstStyle/>
          <a:p>
            <a:pPr indent="0" marL="0">
              <a:buNone/>
            </a:pPr>
            <a:r>
              <a:rPr lang="en-US" sz="1400" dirty="0">
                <a:solidFill>
                  <a:schemeClr val="tx1"/>
                </a:solidFill>
              </a:rPr>
              <a:t>Change the task status and save</a:t>
            </a:r>
            <a:endParaRPr lang="en-US" sz="1400" dirty="0"/>
          </a:p>
        </p:txBody>
      </p:sp>
      <p:sp>
        <p:nvSpPr>
          <p:cNvPr id="13" name="Feature row 3"/>
          <p:cNvSpPr/>
          <p:nvPr/>
        </p:nvSpPr>
        <p:spPr>
          <a:xfrm>
            <a:off x="621792" y="4251960"/>
            <a:ext cx="6035040" cy="868680"/>
          </a:xfrm>
          <a:prstGeom prst="roundRect">
            <a:avLst>
              <a:gd name="adj" fmla="val 15789"/>
            </a:avLst>
          </a:prstGeom>
          <a:solidFill>
            <a:schemeClr val="bg2"/>
          </a:solidFill>
          <a:ln/>
        </p:spPr>
      </p:sp>
      <p:sp>
        <p:nvSpPr>
          <p:cNvPr id="14" name="Delete Task circle"/>
          <p:cNvSpPr/>
          <p:nvPr/>
        </p:nvSpPr>
        <p:spPr>
          <a:xfrm>
            <a:off x="804672" y="4366260"/>
            <a:ext cx="640080" cy="640080"/>
          </a:xfrm>
          <a:prstGeom prst="ellipse">
            <a:avLst/>
          </a:prstGeom>
          <a:solidFill>
            <a:schemeClr val="accent2"/>
          </a:solidFill>
          <a:ln/>
        </p:spPr>
      </p:sp>
      <p:pic>
        <p:nvPicPr>
          <p:cNvPr id="15" name="Image 2" descr="Delete Task icon">    </p:cNvPr>
          <p:cNvPicPr>
            <a:picLocks noChangeAspect="1"/>
          </p:cNvPicPr>
          <p:nvPr/>
        </p:nvPicPr>
        <p:blipFill>
          <a:blip r:embed="rId3"/>
          <a:stretch>
            <a:fillRect/>
          </a:stretch>
        </p:blipFill>
        <p:spPr>
          <a:xfrm>
            <a:off x="977494" y="4539082"/>
            <a:ext cx="294437" cy="294437"/>
          </a:xfrm>
          <a:prstGeom prst="rect">
            <a:avLst/>
          </a:prstGeom>
        </p:spPr>
      </p:pic>
      <p:sp>
        <p:nvSpPr>
          <p:cNvPr id="16" name="Text 11"/>
          <p:cNvSpPr txBox="1"/>
          <p:nvPr/>
        </p:nvSpPr>
        <p:spPr>
          <a:xfrm>
            <a:off x="1645920" y="4343400"/>
            <a:ext cx="4846320" cy="347472"/>
          </a:xfrm>
          <a:prstGeom prst="rect">
            <a:avLst/>
          </a:prstGeom>
          <a:noFill/>
          <a:ln/>
        </p:spPr>
        <p:txBody>
          <a:bodyPr wrap="square" lIns="0" tIns="0" rIns="0" bIns="0" rtlCol="0" anchor="ctr"/>
          <a:lstStyle/>
          <a:p>
            <a:pPr indent="0" marL="0">
              <a:buNone/>
            </a:pPr>
            <a:r>
              <a:rPr lang="en-US" sz="1800" b="1" dirty="0">
                <a:solidFill>
                  <a:schemeClr val="tx2"/>
                </a:solidFill>
              </a:rPr>
              <a:t>Delete Task</a:t>
            </a:r>
            <a:endParaRPr lang="en-US" sz="1800" dirty="0"/>
          </a:p>
        </p:txBody>
      </p:sp>
      <p:sp>
        <p:nvSpPr>
          <p:cNvPr id="17" name="Text 12"/>
          <p:cNvSpPr txBox="1"/>
          <p:nvPr/>
        </p:nvSpPr>
        <p:spPr>
          <a:xfrm>
            <a:off x="1645920" y="4709160"/>
            <a:ext cx="4846320" cy="320040"/>
          </a:xfrm>
          <a:prstGeom prst="rect">
            <a:avLst/>
          </a:prstGeom>
          <a:noFill/>
          <a:ln/>
        </p:spPr>
        <p:txBody>
          <a:bodyPr wrap="square" lIns="0" tIns="0" rIns="0" bIns="0" rtlCol="0" anchor="ctr"/>
          <a:lstStyle/>
          <a:p>
            <a:pPr indent="0" marL="0">
              <a:buNone/>
            </a:pPr>
            <a:r>
              <a:rPr lang="en-US" sz="1400" dirty="0">
                <a:solidFill>
                  <a:schemeClr val="tx1"/>
                </a:solidFill>
              </a:rPr>
              <a:t>Remove the selected task from the list</a:t>
            </a:r>
            <a:endParaRPr lang="en-US" sz="1400" dirty="0"/>
          </a:p>
        </p:txBody>
      </p:sp>
      <p:sp>
        <p:nvSpPr>
          <p:cNvPr id="18" name="Feature row 4"/>
          <p:cNvSpPr/>
          <p:nvPr/>
        </p:nvSpPr>
        <p:spPr>
          <a:xfrm>
            <a:off x="621792" y="5257800"/>
            <a:ext cx="6035040" cy="868680"/>
          </a:xfrm>
          <a:prstGeom prst="roundRect">
            <a:avLst>
              <a:gd name="adj" fmla="val 15789"/>
            </a:avLst>
          </a:prstGeom>
          <a:solidFill>
            <a:schemeClr val="bg2"/>
          </a:solidFill>
          <a:ln/>
        </p:spPr>
      </p:sp>
      <p:sp>
        <p:nvSpPr>
          <p:cNvPr id="19" name="Display Tasks circle"/>
          <p:cNvSpPr/>
          <p:nvPr/>
        </p:nvSpPr>
        <p:spPr>
          <a:xfrm>
            <a:off x="804672" y="5372100"/>
            <a:ext cx="640080" cy="640080"/>
          </a:xfrm>
          <a:prstGeom prst="ellipse">
            <a:avLst/>
          </a:prstGeom>
          <a:solidFill>
            <a:schemeClr val="accent1"/>
          </a:solidFill>
          <a:ln/>
        </p:spPr>
      </p:sp>
      <p:pic>
        <p:nvPicPr>
          <p:cNvPr id="20" name="Image 3" descr="Display Tasks icon">    </p:cNvPr>
          <p:cNvPicPr>
            <a:picLocks noChangeAspect="1"/>
          </p:cNvPicPr>
          <p:nvPr/>
        </p:nvPicPr>
        <p:blipFill>
          <a:blip r:embed="rId4"/>
          <a:stretch>
            <a:fillRect/>
          </a:stretch>
        </p:blipFill>
        <p:spPr>
          <a:xfrm>
            <a:off x="977494" y="5544922"/>
            <a:ext cx="294437" cy="294437"/>
          </a:xfrm>
          <a:prstGeom prst="rect">
            <a:avLst/>
          </a:prstGeom>
        </p:spPr>
      </p:pic>
      <p:sp>
        <p:nvSpPr>
          <p:cNvPr id="21" name="Text 15"/>
          <p:cNvSpPr txBox="1"/>
          <p:nvPr/>
        </p:nvSpPr>
        <p:spPr>
          <a:xfrm>
            <a:off x="1645920" y="5349240"/>
            <a:ext cx="4846320" cy="347472"/>
          </a:xfrm>
          <a:prstGeom prst="rect">
            <a:avLst/>
          </a:prstGeom>
          <a:noFill/>
          <a:ln/>
        </p:spPr>
        <p:txBody>
          <a:bodyPr wrap="square" lIns="0" tIns="0" rIns="0" bIns="0" rtlCol="0" anchor="ctr"/>
          <a:lstStyle/>
          <a:p>
            <a:pPr indent="0" marL="0">
              <a:buNone/>
            </a:pPr>
            <a:r>
              <a:rPr lang="en-US" sz="1800" b="1" dirty="0">
                <a:solidFill>
                  <a:schemeClr val="tx2"/>
                </a:solidFill>
              </a:rPr>
              <a:t>Display Tasks</a:t>
            </a:r>
            <a:endParaRPr lang="en-US" sz="1800" dirty="0"/>
          </a:p>
        </p:txBody>
      </p:sp>
      <p:sp>
        <p:nvSpPr>
          <p:cNvPr id="22" name="Text 16"/>
          <p:cNvSpPr txBox="1"/>
          <p:nvPr/>
        </p:nvSpPr>
        <p:spPr>
          <a:xfrm>
            <a:off x="1645920" y="5715000"/>
            <a:ext cx="4846320" cy="320040"/>
          </a:xfrm>
          <a:prstGeom prst="rect">
            <a:avLst/>
          </a:prstGeom>
          <a:noFill/>
          <a:ln/>
        </p:spPr>
        <p:txBody>
          <a:bodyPr wrap="square" lIns="0" tIns="0" rIns="0" bIns="0" rtlCol="0" anchor="ctr"/>
          <a:lstStyle/>
          <a:p>
            <a:pPr indent="0" marL="0">
              <a:buNone/>
            </a:pPr>
            <a:r>
              <a:rPr lang="en-US" sz="1400" dirty="0">
                <a:solidFill>
                  <a:schemeClr val="tx1"/>
                </a:solidFill>
              </a:rPr>
              <a:t>Loop through the list and show each task</a:t>
            </a:r>
            <a:endParaRPr lang="en-US" sz="1400" dirty="0"/>
          </a:p>
        </p:txBody>
      </p:sp>
      <p:sp>
        <p:nvSpPr>
          <p:cNvPr id="23" name="Code panel"/>
          <p:cNvSpPr/>
          <p:nvPr/>
        </p:nvSpPr>
        <p:spPr>
          <a:xfrm>
            <a:off x="6949440" y="2240280"/>
            <a:ext cx="4617720" cy="3886200"/>
          </a:xfrm>
          <a:prstGeom prst="roundRect">
            <a:avLst>
              <a:gd name="adj" fmla="val 3529"/>
            </a:avLst>
          </a:prstGeom>
          <a:solidFill>
            <a:schemeClr val="tx2"/>
          </a:solidFill>
          <a:ln/>
        </p:spPr>
      </p:sp>
      <p:sp>
        <p:nvSpPr>
          <p:cNvPr id="24" name="Text 18"/>
          <p:cNvSpPr txBox="1"/>
          <p:nvPr/>
        </p:nvSpPr>
        <p:spPr>
          <a:xfrm>
            <a:off x="7269480" y="2423160"/>
            <a:ext cx="4023360" cy="320040"/>
          </a:xfrm>
          <a:prstGeom prst="rect">
            <a:avLst/>
          </a:prstGeom>
          <a:noFill/>
          <a:ln/>
        </p:spPr>
        <p:txBody>
          <a:bodyPr wrap="square" lIns="0" tIns="0" rIns="0" bIns="0" rtlCol="0" anchor="ctr"/>
          <a:lstStyle/>
          <a:p>
            <a:pPr indent="0" marL="0">
              <a:buNone/>
            </a:pPr>
            <a:r>
              <a:rPr lang="en-US" sz="1600" b="1" dirty="0">
                <a:solidFill>
                  <a:schemeClr val="bg2"/>
                </a:solidFill>
              </a:rPr>
              <a:t>Core idea (simplified)</a:t>
            </a:r>
            <a:endParaRPr lang="en-US" sz="1600" dirty="0"/>
          </a:p>
        </p:txBody>
      </p:sp>
      <p:sp>
        <p:nvSpPr>
          <p:cNvPr id="25" name="Text 19"/>
          <p:cNvSpPr txBox="1"/>
          <p:nvPr/>
        </p:nvSpPr>
        <p:spPr>
          <a:xfrm>
            <a:off x="7269480" y="2880360"/>
            <a:ext cx="4023360" cy="3017520"/>
          </a:xfrm>
          <a:prstGeom prst="rect">
            <a:avLst/>
          </a:prstGeom>
          <a:noFill/>
          <a:ln/>
        </p:spPr>
        <p:txBody>
          <a:bodyPr wrap="square" lIns="0" tIns="0" rIns="0" bIns="0" rtlCol="0" anchor="t"/>
          <a:lstStyle/>
          <a:p>
            <a:pPr indent="0" marL="0">
              <a:spcAft>
                <a:spcPts val="600"/>
              </a:spcAft>
              <a:buNone/>
            </a:pPr>
            <a:r>
              <a:rPr lang="en-US" sz="1400" dirty="0">
                <a:solidFill>
                  <a:schemeClr val="accent3"/>
                </a:solidFill>
                <a:latin typeface="Courier New" pitchFamily="34" charset="0"/>
                <a:ea typeface="Courier New" pitchFamily="34" charset="-122"/>
                <a:cs typeface="Courier New" pitchFamily="34" charset="-120"/>
              </a:rPr>
              <a:t># Add</a:t>
            </a:r>
            <a:endParaRPr lang="en-US" sz="1400" dirty="0"/>
          </a:p>
          <a:p>
            <a:pPr indent="0" marL="0">
              <a:spcAft>
                <a:spcPts val="600"/>
              </a:spcAft>
              <a:buNone/>
            </a:pPr>
            <a:r>
              <a:rPr lang="en-US" sz="1400" dirty="0">
                <a:solidFill>
                  <a:schemeClr val="bg1"/>
                </a:solidFill>
                <a:latin typeface="Courier New" pitchFamily="34" charset="0"/>
                <a:ea typeface="Courier New" pitchFamily="34" charset="-122"/>
                <a:cs typeface="Courier New" pitchFamily="34" charset="-120"/>
              </a:rPr>
              <a:t>tasks.append(new_task)</a:t>
            </a:r>
            <a:endParaRPr lang="en-US" sz="1400" dirty="0"/>
          </a:p>
          <a:p>
            <a:pPr indent="0" marL="0">
              <a:spcAft>
                <a:spcPts val="600"/>
              </a:spcAft>
              <a:buNone/>
            </a:pPr>
            <a:r>
              <a:rPr lang="en-US" sz="1400" dirty="0">
                <a:solidFill>
                  <a:schemeClr val="accent3"/>
                </a:solidFill>
                <a:latin typeface="Courier New" pitchFamily="34" charset="0"/>
                <a:ea typeface="Courier New" pitchFamily="34" charset="-122"/>
                <a:cs typeface="Courier New" pitchFamily="34" charset="-120"/>
              </a:rPr>
              <a:t># Complete</a:t>
            </a:r>
            <a:endParaRPr lang="en-US" sz="1400" dirty="0"/>
          </a:p>
          <a:p>
            <a:pPr indent="0" marL="0">
              <a:spcAft>
                <a:spcPts val="600"/>
              </a:spcAft>
              <a:buNone/>
            </a:pPr>
            <a:r>
              <a:rPr lang="en-US" sz="1400" dirty="0">
                <a:solidFill>
                  <a:schemeClr val="bg1"/>
                </a:solidFill>
                <a:latin typeface="Courier New" pitchFamily="34" charset="0"/>
                <a:ea typeface="Courier New" pitchFamily="34" charset="-122"/>
                <a:cs typeface="Courier New" pitchFamily="34" charset="-120"/>
              </a:rPr>
              <a:t>tasks[i]["completed"] = True</a:t>
            </a:r>
            <a:endParaRPr lang="en-US" sz="1400" dirty="0"/>
          </a:p>
          <a:p>
            <a:pPr indent="0" marL="0">
              <a:spcAft>
                <a:spcPts val="600"/>
              </a:spcAft>
              <a:buNone/>
            </a:pPr>
            <a:r>
              <a:rPr lang="en-US" sz="1400" dirty="0">
                <a:solidFill>
                  <a:schemeClr val="accent3"/>
                </a:solidFill>
                <a:latin typeface="Courier New" pitchFamily="34" charset="0"/>
                <a:ea typeface="Courier New" pitchFamily="34" charset="-122"/>
                <a:cs typeface="Courier New" pitchFamily="34" charset="-120"/>
              </a:rPr>
              <a:t># Delete</a:t>
            </a:r>
            <a:endParaRPr lang="en-US" sz="1400" dirty="0"/>
          </a:p>
          <a:p>
            <a:pPr indent="0" marL="0">
              <a:spcAft>
                <a:spcPts val="600"/>
              </a:spcAft>
              <a:buNone/>
            </a:pPr>
            <a:r>
              <a:rPr lang="en-US" sz="1400" dirty="0">
                <a:solidFill>
                  <a:schemeClr val="bg1"/>
                </a:solidFill>
                <a:latin typeface="Courier New" pitchFamily="34" charset="0"/>
                <a:ea typeface="Courier New" pitchFamily="34" charset="-122"/>
                <a:cs typeface="Courier New" pitchFamily="34" charset="-120"/>
              </a:rPr>
              <a:t>tasks.pop(i)</a:t>
            </a:r>
            <a:endParaRPr lang="en-US" sz="1400" dirty="0"/>
          </a:p>
          <a:p>
            <a:pPr indent="0" marL="0">
              <a:spcAft>
                <a:spcPts val="600"/>
              </a:spcAft>
              <a:buNone/>
            </a:pPr>
            <a:r>
              <a:rPr lang="en-US" sz="1400" dirty="0">
                <a:solidFill>
                  <a:schemeClr val="accent3"/>
                </a:solidFill>
                <a:latin typeface="Courier New" pitchFamily="34" charset="0"/>
                <a:ea typeface="Courier New" pitchFamily="34" charset="-122"/>
                <a:cs typeface="Courier New" pitchFamily="34" charset="-120"/>
              </a:rPr>
              <a:t># Save</a:t>
            </a:r>
            <a:endParaRPr lang="en-US" sz="1400" dirty="0"/>
          </a:p>
          <a:p>
            <a:pPr indent="0" marL="0">
              <a:spcAft>
                <a:spcPts val="600"/>
              </a:spcAft>
              <a:buNone/>
            </a:pPr>
            <a:r>
              <a:rPr lang="en-US" sz="1400" dirty="0">
                <a:solidFill>
                  <a:schemeClr val="bg1"/>
                </a:solidFill>
                <a:latin typeface="Courier New" pitchFamily="34" charset="0"/>
                <a:ea typeface="Courier New" pitchFamily="34" charset="-122"/>
                <a:cs typeface="Courier New" pitchFamily="34" charset="-120"/>
              </a:rPr>
              <a:t>json.dump(tasks, f, indent=4)</a:t>
            </a:r>
            <a:endParaRPr lang="en-US" sz="1400" dirty="0"/>
          </a:p>
        </p:txBody>
      </p:sp>
      <p:sp>
        <p:nvSpPr>
          <p:cNvPr id="25" name="Slide Number Placeholder 0"/>
          <p:cNvSpPr>
            <a:spLocks noGrp="1"/>
          </p:cNvSpPr>
          <p:nvPr>
            <p:ph type="sldNum" sz="quarter" idx="4294967295"/>
          </p:nvPr>
        </p:nvSpPr>
        <p:spPr>
          <a:xfrm>
            <a:off x="10652760"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8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4" type="title" hasCustomPrompt="1"/>
          </p:nvPr>
        </p:nvSpPr>
        <p:spPr>
          <a:xfrm>
            <a:off x="621792" y="1371600"/>
            <a:ext cx="10945368" cy="731520"/>
          </a:xfrm>
          <a:prstGeom prst="rect">
            <a:avLst/>
          </a:prstGeom>
          <a:noFill/>
          <a:ln/>
        </p:spPr>
        <p:txBody>
          <a:bodyPr wrap="square" lIns="0" tIns="0" rIns="0" bIns="0" rtlCol="0" anchor="ctr"/>
          <a:lstStyle/>
          <a:p>
            <a:pPr algn="l" indent="0" marL="0">
              <a:buNone/>
            </a:pPr>
            <a:r>
              <a:rPr lang="en-US" sz="3600" b="1" dirty="0">
                <a:solidFill>
                  <a:schemeClr val="tx2"/>
                </a:solidFill>
              </a:rPr>
              <a:t>GUI and Output</a:t>
            </a:r>
            <a:endParaRPr lang="en-US" sz="3600" dirty="0"/>
          </a:p>
        </p:txBody>
      </p:sp>
      <p:sp>
        <p:nvSpPr>
          <p:cNvPr id="3" name="Screenshot 1 frame"/>
          <p:cNvSpPr/>
          <p:nvPr/>
        </p:nvSpPr>
        <p:spPr>
          <a:xfrm>
            <a:off x="621792" y="2240280"/>
            <a:ext cx="3657600" cy="3931920"/>
          </a:xfrm>
          <a:prstGeom prst="roundRect">
            <a:avLst>
              <a:gd name="adj" fmla="val 3750"/>
            </a:avLst>
          </a:prstGeom>
          <a:solidFill>
            <a:schemeClr val="bg1"/>
          </a:solidFill>
          <a:ln w="25400">
            <a:solidFill>
              <a:schemeClr val="accent1"/>
            </a:solidFill>
            <a:prstDash val="dash"/>
          </a:ln>
        </p:spPr>
      </p:sp>
      <p:sp>
        <p:nvSpPr>
          <p:cNvPr id="4" name="Screenshot 1 circle"/>
          <p:cNvSpPr/>
          <p:nvPr/>
        </p:nvSpPr>
        <p:spPr>
          <a:xfrm>
            <a:off x="1993392" y="3017520"/>
            <a:ext cx="914400" cy="914400"/>
          </a:xfrm>
          <a:prstGeom prst="ellipse">
            <a:avLst/>
          </a:prstGeom>
          <a:solidFill>
            <a:schemeClr val="bg2"/>
          </a:solidFill>
          <a:ln/>
        </p:spPr>
      </p:sp>
      <p:pic>
        <p:nvPicPr>
          <p:cNvPr id="5" name="Image 0" descr="Screenshot 1 icon">    </p:cNvPr>
          <p:cNvPicPr>
            <a:picLocks noChangeAspect="1"/>
          </p:cNvPicPr>
          <p:nvPr/>
        </p:nvPicPr>
        <p:blipFill>
          <a:blip r:embed="rId1"/>
          <a:stretch>
            <a:fillRect/>
          </a:stretch>
        </p:blipFill>
        <p:spPr>
          <a:xfrm>
            <a:off x="2240280" y="3264408"/>
            <a:ext cx="420624" cy="420624"/>
          </a:xfrm>
          <a:prstGeom prst="rect">
            <a:avLst/>
          </a:prstGeom>
        </p:spPr>
      </p:pic>
      <p:sp>
        <p:nvSpPr>
          <p:cNvPr id="6" name="Text 3"/>
          <p:cNvSpPr txBox="1"/>
          <p:nvPr/>
        </p:nvSpPr>
        <p:spPr>
          <a:xfrm>
            <a:off x="621792" y="4206240"/>
            <a:ext cx="3657600" cy="365760"/>
          </a:xfrm>
          <a:prstGeom prst="rect">
            <a:avLst/>
          </a:prstGeom>
          <a:noFill/>
          <a:ln/>
        </p:spPr>
        <p:txBody>
          <a:bodyPr wrap="square" lIns="0" tIns="0" rIns="0" bIns="0" rtlCol="0" anchor="ctr"/>
          <a:lstStyle/>
          <a:p>
            <a:pPr algn="ctr" indent="0" marL="0">
              <a:buNone/>
            </a:pPr>
            <a:r>
              <a:rPr lang="en-US" sz="2000" b="1" dirty="0">
                <a:solidFill>
                  <a:schemeClr val="tx2"/>
                </a:solidFill>
              </a:rPr>
              <a:t>Screenshot 1</a:t>
            </a:r>
            <a:endParaRPr lang="en-US" sz="2000" dirty="0"/>
          </a:p>
        </p:txBody>
      </p:sp>
      <p:sp>
        <p:nvSpPr>
          <p:cNvPr id="7" name="Text 4"/>
          <p:cNvSpPr txBox="1"/>
          <p:nvPr/>
        </p:nvSpPr>
        <p:spPr>
          <a:xfrm>
            <a:off x="621792" y="4617720"/>
            <a:ext cx="3657600" cy="320040"/>
          </a:xfrm>
          <a:prstGeom prst="rect">
            <a:avLst/>
          </a:prstGeom>
          <a:noFill/>
          <a:ln/>
        </p:spPr>
        <p:txBody>
          <a:bodyPr wrap="square" lIns="0" tIns="0" rIns="0" bIns="0" rtlCol="0" anchor="ctr"/>
          <a:lstStyle/>
          <a:p>
            <a:pPr algn="ctr" indent="0" marL="0">
              <a:buNone/>
            </a:pPr>
            <a:r>
              <a:rPr lang="en-US" sz="1500" dirty="0">
                <a:solidFill>
                  <a:schemeClr val="tx1"/>
                </a:solidFill>
              </a:rPr>
              <a:t>Main window of the app</a:t>
            </a:r>
            <a:endParaRPr lang="en-US" sz="1500" dirty="0"/>
          </a:p>
        </p:txBody>
      </p:sp>
      <p:sp>
        <p:nvSpPr>
          <p:cNvPr id="8" name="Text 5"/>
          <p:cNvSpPr txBox="1"/>
          <p:nvPr/>
        </p:nvSpPr>
        <p:spPr>
          <a:xfrm>
            <a:off x="621792" y="5029200"/>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Insert your screenshot here</a:t>
            </a:r>
            <a:endParaRPr lang="en-US" sz="1200" dirty="0"/>
          </a:p>
        </p:txBody>
      </p:sp>
      <p:sp>
        <p:nvSpPr>
          <p:cNvPr id="9" name="Screenshot 2 frame"/>
          <p:cNvSpPr/>
          <p:nvPr/>
        </p:nvSpPr>
        <p:spPr>
          <a:xfrm>
            <a:off x="4539996" y="2240280"/>
            <a:ext cx="3657600" cy="3931920"/>
          </a:xfrm>
          <a:prstGeom prst="roundRect">
            <a:avLst>
              <a:gd name="adj" fmla="val 3750"/>
            </a:avLst>
          </a:prstGeom>
          <a:solidFill>
            <a:schemeClr val="bg1"/>
          </a:solidFill>
          <a:ln w="25400">
            <a:solidFill>
              <a:schemeClr val="accent1"/>
            </a:solidFill>
            <a:prstDash val="dash"/>
          </a:ln>
        </p:spPr>
      </p:sp>
      <p:sp>
        <p:nvSpPr>
          <p:cNvPr id="10" name="Screenshot 2 circle"/>
          <p:cNvSpPr/>
          <p:nvPr/>
        </p:nvSpPr>
        <p:spPr>
          <a:xfrm>
            <a:off x="5911596" y="3017520"/>
            <a:ext cx="914400" cy="914400"/>
          </a:xfrm>
          <a:prstGeom prst="ellipse">
            <a:avLst/>
          </a:prstGeom>
          <a:solidFill>
            <a:schemeClr val="bg2"/>
          </a:solidFill>
          <a:ln/>
        </p:spPr>
      </p:sp>
      <p:pic>
        <p:nvPicPr>
          <p:cNvPr id="11" name="Image 1" descr="Screenshot 2 icon">    </p:cNvPr>
          <p:cNvPicPr>
            <a:picLocks noChangeAspect="1"/>
          </p:cNvPicPr>
          <p:nvPr/>
        </p:nvPicPr>
        <p:blipFill>
          <a:blip r:embed="rId2"/>
          <a:stretch>
            <a:fillRect/>
          </a:stretch>
        </p:blipFill>
        <p:spPr>
          <a:xfrm>
            <a:off x="6158484" y="3264408"/>
            <a:ext cx="420624" cy="420624"/>
          </a:xfrm>
          <a:prstGeom prst="rect">
            <a:avLst/>
          </a:prstGeom>
        </p:spPr>
      </p:pic>
      <p:sp>
        <p:nvSpPr>
          <p:cNvPr id="12" name="Text 8"/>
          <p:cNvSpPr txBox="1"/>
          <p:nvPr/>
        </p:nvSpPr>
        <p:spPr>
          <a:xfrm>
            <a:off x="4539996" y="4206240"/>
            <a:ext cx="3657600" cy="365760"/>
          </a:xfrm>
          <a:prstGeom prst="rect">
            <a:avLst/>
          </a:prstGeom>
          <a:noFill/>
          <a:ln/>
        </p:spPr>
        <p:txBody>
          <a:bodyPr wrap="square" lIns="0" tIns="0" rIns="0" bIns="0" rtlCol="0" anchor="ctr"/>
          <a:lstStyle/>
          <a:p>
            <a:pPr algn="ctr" indent="0" marL="0">
              <a:buNone/>
            </a:pPr>
            <a:r>
              <a:rPr lang="en-US" sz="2000" b="1" dirty="0">
                <a:solidFill>
                  <a:schemeClr val="tx2"/>
                </a:solidFill>
              </a:rPr>
              <a:t>Screenshot 2</a:t>
            </a:r>
            <a:endParaRPr lang="en-US" sz="2000" dirty="0"/>
          </a:p>
        </p:txBody>
      </p:sp>
      <p:sp>
        <p:nvSpPr>
          <p:cNvPr id="13" name="Text 9"/>
          <p:cNvSpPr txBox="1"/>
          <p:nvPr/>
        </p:nvSpPr>
        <p:spPr>
          <a:xfrm>
            <a:off x="4539996" y="4617720"/>
            <a:ext cx="3657600" cy="320040"/>
          </a:xfrm>
          <a:prstGeom prst="rect">
            <a:avLst/>
          </a:prstGeom>
          <a:noFill/>
          <a:ln/>
        </p:spPr>
        <p:txBody>
          <a:bodyPr wrap="square" lIns="0" tIns="0" rIns="0" bIns="0" rtlCol="0" anchor="ctr"/>
          <a:lstStyle/>
          <a:p>
            <a:pPr algn="ctr" indent="0" marL="0">
              <a:buNone/>
            </a:pPr>
            <a:r>
              <a:rPr lang="en-US" sz="1500" dirty="0">
                <a:solidFill>
                  <a:schemeClr val="tx1"/>
                </a:solidFill>
              </a:rPr>
              <a:t>Tasks added and completed</a:t>
            </a:r>
            <a:endParaRPr lang="en-US" sz="1500" dirty="0"/>
          </a:p>
        </p:txBody>
      </p:sp>
      <p:sp>
        <p:nvSpPr>
          <p:cNvPr id="14" name="Text 10"/>
          <p:cNvSpPr txBox="1"/>
          <p:nvPr/>
        </p:nvSpPr>
        <p:spPr>
          <a:xfrm>
            <a:off x="4539996" y="5029200"/>
            <a:ext cx="3657600" cy="274320"/>
          </a:xfrm>
          <a:prstGeom prst="rect">
            <a:avLst/>
          </a:prstGeom>
          <a:noFill/>
          <a:ln/>
        </p:spPr>
        <p:txBody>
          <a:bodyPr wrap="square" lIns="0" tIns="0" rIns="0" bIns="0" rtlCol="0" anchor="ctr"/>
          <a:lstStyle/>
          <a:p>
            <a:pPr algn="ctr" indent="0" marL="0">
              <a:buNone/>
            </a:pPr>
            <a:r>
              <a:rPr lang="en-US" sz="1200" i="1" dirty="0">
                <a:solidFill>
                  <a:schemeClr val="accent6"/>
                </a:solidFill>
              </a:rPr>
              <a:t>Insert your screenshot here</a:t>
            </a:r>
            <a:endParaRPr lang="en-US" sz="1200" dirty="0"/>
          </a:p>
        </p:txBody>
      </p:sp>
      <p:sp>
        <p:nvSpPr>
          <p:cNvPr id="15" name="JSON record panel"/>
          <p:cNvSpPr/>
          <p:nvPr/>
        </p:nvSpPr>
        <p:spPr>
          <a:xfrm>
            <a:off x="8453628" y="2240280"/>
            <a:ext cx="3113532" cy="3931920"/>
          </a:xfrm>
          <a:prstGeom prst="roundRect">
            <a:avLst>
              <a:gd name="adj" fmla="val 4405"/>
            </a:avLst>
          </a:prstGeom>
          <a:solidFill>
            <a:schemeClr val="tx2"/>
          </a:solidFill>
          <a:ln/>
        </p:spPr>
      </p:sp>
      <p:sp>
        <p:nvSpPr>
          <p:cNvPr id="16" name="Text 12"/>
          <p:cNvSpPr txBox="1"/>
          <p:nvPr/>
        </p:nvSpPr>
        <p:spPr>
          <a:xfrm>
            <a:off x="8686800" y="2423160"/>
            <a:ext cx="2651760" cy="320040"/>
          </a:xfrm>
          <a:prstGeom prst="rect">
            <a:avLst/>
          </a:prstGeom>
          <a:noFill/>
          <a:ln/>
        </p:spPr>
        <p:txBody>
          <a:bodyPr wrap="square" lIns="0" tIns="0" rIns="0" bIns="0" rtlCol="0" anchor="ctr"/>
          <a:lstStyle/>
          <a:p>
            <a:pPr indent="0" marL="0">
              <a:buNone/>
            </a:pPr>
            <a:r>
              <a:rPr lang="en-US" sz="1600" b="1" dirty="0">
                <a:solidFill>
                  <a:schemeClr val="bg2"/>
                </a:solidFill>
              </a:rPr>
              <a:t>Task record format</a:t>
            </a:r>
            <a:endParaRPr lang="en-US" sz="1600" dirty="0"/>
          </a:p>
        </p:txBody>
      </p:sp>
      <p:sp>
        <p:nvSpPr>
          <p:cNvPr id="17" name="Text 13"/>
          <p:cNvSpPr txBox="1"/>
          <p:nvPr/>
        </p:nvSpPr>
        <p:spPr>
          <a:xfrm>
            <a:off x="8686800" y="2880360"/>
            <a:ext cx="2697480" cy="2103120"/>
          </a:xfrm>
          <a:prstGeom prst="rect">
            <a:avLst/>
          </a:prstGeom>
          <a:noFill/>
          <a:ln/>
        </p:spPr>
        <p:txBody>
          <a:bodyPr wrap="square" lIns="0" tIns="0" rIns="0" bIns="0" rtlCol="0" anchor="t"/>
          <a:lstStyle/>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    "task": "...",</a:t>
            </a: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    "completed": false</a:t>
            </a: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8" name="Text 14"/>
          <p:cNvSpPr txBox="1"/>
          <p:nvPr/>
        </p:nvSpPr>
        <p:spPr>
          <a:xfrm>
            <a:off x="8686800" y="5120640"/>
            <a:ext cx="2697480" cy="822960"/>
          </a:xfrm>
          <a:prstGeom prst="rect">
            <a:avLst/>
          </a:prstGeom>
          <a:noFill/>
          <a:ln/>
        </p:spPr>
        <p:txBody>
          <a:bodyPr wrap="square" lIns="0" tIns="0" rIns="0" bIns="0" rtlCol="0" anchor="t"/>
          <a:lstStyle/>
          <a:p>
            <a:pPr indent="0" marL="0">
              <a:buNone/>
            </a:pPr>
            <a:r>
              <a:rPr lang="en-US" sz="1400" dirty="0">
                <a:solidFill>
                  <a:schemeClr val="bg2"/>
                </a:solidFill>
              </a:rPr>
              <a:t>Each task stores its text and whether it is done.</a:t>
            </a:r>
            <a:endParaRPr lang="en-US" sz="1400" dirty="0"/>
          </a:p>
        </p:txBody>
      </p:sp>
      <p:sp>
        <p:nvSpPr>
          <p:cNvPr id="25" name="Slide Number Placeholder 0"/>
          <p:cNvSpPr>
            <a:spLocks noGrp="1"/>
          </p:cNvSpPr>
          <p:nvPr>
            <p:ph type="sldNum" sz="quarter" idx="4294967295"/>
          </p:nvPr>
        </p:nvSpPr>
        <p:spPr>
          <a:xfrm>
            <a:off x="10652760"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8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4" type="title" hasCustomPrompt="1"/>
          </p:nvPr>
        </p:nvSpPr>
        <p:spPr>
          <a:xfrm>
            <a:off x="621792" y="1371600"/>
            <a:ext cx="10945368" cy="731520"/>
          </a:xfrm>
          <a:prstGeom prst="rect">
            <a:avLst/>
          </a:prstGeom>
          <a:noFill/>
          <a:ln/>
        </p:spPr>
        <p:txBody>
          <a:bodyPr wrap="square" lIns="0" tIns="0" rIns="0" bIns="0" rtlCol="0" anchor="ctr"/>
          <a:lstStyle/>
          <a:p>
            <a:pPr algn="l" indent="0" marL="0">
              <a:buNone/>
            </a:pPr>
            <a:r>
              <a:rPr lang="en-US" sz="3600" b="1" dirty="0">
                <a:solidFill>
                  <a:schemeClr val="tx2"/>
                </a:solidFill>
              </a:rPr>
              <a:t>Advantages, Limitations and Future Scope</a:t>
            </a:r>
            <a:endParaRPr lang="en-US" sz="3600" dirty="0"/>
          </a:p>
        </p:txBody>
      </p:sp>
      <p:sp>
        <p:nvSpPr>
          <p:cNvPr id="3" name="Advantages header"/>
          <p:cNvSpPr/>
          <p:nvPr/>
        </p:nvSpPr>
        <p:spPr>
          <a:xfrm>
            <a:off x="621792" y="2240280"/>
            <a:ext cx="3474720" cy="594360"/>
          </a:xfrm>
          <a:prstGeom prst="roundRect">
            <a:avLst>
              <a:gd name="adj" fmla="val 18462"/>
            </a:avLst>
          </a:prstGeom>
          <a:solidFill>
            <a:schemeClr val="accent5"/>
          </a:solidFill>
          <a:ln/>
        </p:spPr>
      </p:sp>
      <p:pic>
        <p:nvPicPr>
          <p:cNvPr id="4" name="Image 0" descr="Advantages icon">    </p:cNvPr>
          <p:cNvPicPr>
            <a:picLocks noChangeAspect="1"/>
          </p:cNvPicPr>
          <p:nvPr/>
        </p:nvPicPr>
        <p:blipFill>
          <a:blip r:embed="rId1"/>
          <a:stretch>
            <a:fillRect/>
          </a:stretch>
        </p:blipFill>
        <p:spPr>
          <a:xfrm>
            <a:off x="850392" y="2395728"/>
            <a:ext cx="283464" cy="283464"/>
          </a:xfrm>
          <a:prstGeom prst="rect">
            <a:avLst/>
          </a:prstGeom>
        </p:spPr>
      </p:pic>
      <p:sp>
        <p:nvSpPr>
          <p:cNvPr id="5" name="Text 2"/>
          <p:cNvSpPr txBox="1"/>
          <p:nvPr/>
        </p:nvSpPr>
        <p:spPr>
          <a:xfrm>
            <a:off x="1307592" y="2240280"/>
            <a:ext cx="2651760" cy="594360"/>
          </a:xfrm>
          <a:prstGeom prst="rect">
            <a:avLst/>
          </a:prstGeom>
          <a:noFill/>
          <a:ln/>
        </p:spPr>
        <p:txBody>
          <a:bodyPr wrap="square" lIns="0" tIns="0" rIns="0" bIns="0" rtlCol="0" anchor="ctr"/>
          <a:lstStyle/>
          <a:p>
            <a:pPr indent="0" marL="0">
              <a:buNone/>
            </a:pPr>
            <a:r>
              <a:rPr lang="en-US" sz="2000" b="1" dirty="0">
                <a:solidFill>
                  <a:schemeClr val="bg1"/>
                </a:solidFill>
              </a:rPr>
              <a:t>Advantages</a:t>
            </a:r>
            <a:endParaRPr lang="en-US" sz="2000" dirty="0"/>
          </a:p>
        </p:txBody>
      </p:sp>
      <p:sp>
        <p:nvSpPr>
          <p:cNvPr id="6" name="Advantages item 1"/>
          <p:cNvSpPr/>
          <p:nvPr/>
        </p:nvSpPr>
        <p:spPr>
          <a:xfrm>
            <a:off x="621792" y="2971800"/>
            <a:ext cx="3474720" cy="731520"/>
          </a:xfrm>
          <a:prstGeom prst="roundRect">
            <a:avLst>
              <a:gd name="adj" fmla="val 18750"/>
            </a:avLst>
          </a:prstGeom>
          <a:solidFill>
            <a:schemeClr val="bg2"/>
          </a:solidFill>
          <a:ln/>
        </p:spPr>
      </p:sp>
      <p:pic>
        <p:nvPicPr>
          <p:cNvPr id="7" name="Image 1" descr="Advantages marker">    </p:cNvPr>
          <p:cNvPicPr>
            <a:picLocks noChangeAspect="1"/>
          </p:cNvPicPr>
          <p:nvPr/>
        </p:nvPicPr>
        <p:blipFill>
          <a:blip r:embed="rId2"/>
          <a:stretch>
            <a:fillRect/>
          </a:stretch>
        </p:blipFill>
        <p:spPr>
          <a:xfrm>
            <a:off x="804672" y="3172968"/>
            <a:ext cx="329184" cy="329184"/>
          </a:xfrm>
          <a:prstGeom prst="rect">
            <a:avLst/>
          </a:prstGeom>
        </p:spPr>
      </p:pic>
      <p:sp>
        <p:nvSpPr>
          <p:cNvPr id="8" name="Text 4"/>
          <p:cNvSpPr txBox="1"/>
          <p:nvPr/>
        </p:nvSpPr>
        <p:spPr>
          <a:xfrm>
            <a:off x="1307592" y="2971800"/>
            <a:ext cx="2651760" cy="731520"/>
          </a:xfrm>
          <a:prstGeom prst="rect">
            <a:avLst/>
          </a:prstGeom>
          <a:noFill/>
          <a:ln/>
        </p:spPr>
        <p:txBody>
          <a:bodyPr wrap="square" lIns="0" tIns="0" rIns="0" bIns="0" rtlCol="0" anchor="ctr"/>
          <a:lstStyle/>
          <a:p>
            <a:pPr indent="0" marL="0">
              <a:buNone/>
            </a:pPr>
            <a:r>
              <a:rPr lang="en-US" sz="1500" dirty="0">
                <a:solidFill>
                  <a:schemeClr val="tx1"/>
                </a:solidFill>
              </a:rPr>
              <a:t>Simple and easy to use</a:t>
            </a:r>
            <a:endParaRPr lang="en-US" sz="1500" dirty="0"/>
          </a:p>
        </p:txBody>
      </p:sp>
      <p:sp>
        <p:nvSpPr>
          <p:cNvPr id="9" name="Advantages item 2"/>
          <p:cNvSpPr/>
          <p:nvPr/>
        </p:nvSpPr>
        <p:spPr>
          <a:xfrm>
            <a:off x="621792" y="3794760"/>
            <a:ext cx="3474720" cy="731520"/>
          </a:xfrm>
          <a:prstGeom prst="roundRect">
            <a:avLst>
              <a:gd name="adj" fmla="val 18750"/>
            </a:avLst>
          </a:prstGeom>
          <a:solidFill>
            <a:schemeClr val="bg2"/>
          </a:solidFill>
          <a:ln/>
        </p:spPr>
      </p:sp>
      <p:pic>
        <p:nvPicPr>
          <p:cNvPr id="10" name="Image 2" descr="Advantages marker">    </p:cNvPr>
          <p:cNvPicPr>
            <a:picLocks noChangeAspect="1"/>
          </p:cNvPicPr>
          <p:nvPr/>
        </p:nvPicPr>
        <p:blipFill>
          <a:blip r:embed="rId3"/>
          <a:stretch>
            <a:fillRect/>
          </a:stretch>
        </p:blipFill>
        <p:spPr>
          <a:xfrm>
            <a:off x="804672" y="3995928"/>
            <a:ext cx="329184" cy="329184"/>
          </a:xfrm>
          <a:prstGeom prst="rect">
            <a:avLst/>
          </a:prstGeom>
        </p:spPr>
      </p:pic>
      <p:sp>
        <p:nvSpPr>
          <p:cNvPr id="11" name="Text 6"/>
          <p:cNvSpPr txBox="1"/>
          <p:nvPr/>
        </p:nvSpPr>
        <p:spPr>
          <a:xfrm>
            <a:off x="1307592" y="3794760"/>
            <a:ext cx="2651760" cy="731520"/>
          </a:xfrm>
          <a:prstGeom prst="rect">
            <a:avLst/>
          </a:prstGeom>
          <a:noFill/>
          <a:ln/>
        </p:spPr>
        <p:txBody>
          <a:bodyPr wrap="square" lIns="0" tIns="0" rIns="0" bIns="0" rtlCol="0" anchor="ctr"/>
          <a:lstStyle/>
          <a:p>
            <a:pPr indent="0" marL="0">
              <a:buNone/>
            </a:pPr>
            <a:r>
              <a:rPr lang="en-US" sz="1500" dirty="0">
                <a:solidFill>
                  <a:schemeClr val="tx1"/>
                </a:solidFill>
              </a:rPr>
              <a:t>Tasks stay saved after closing</a:t>
            </a:r>
            <a:endParaRPr lang="en-US" sz="1500" dirty="0"/>
          </a:p>
        </p:txBody>
      </p:sp>
      <p:sp>
        <p:nvSpPr>
          <p:cNvPr id="12" name="Advantages item 3"/>
          <p:cNvSpPr/>
          <p:nvPr/>
        </p:nvSpPr>
        <p:spPr>
          <a:xfrm>
            <a:off x="621792" y="4617720"/>
            <a:ext cx="3474720" cy="731520"/>
          </a:xfrm>
          <a:prstGeom prst="roundRect">
            <a:avLst>
              <a:gd name="adj" fmla="val 18750"/>
            </a:avLst>
          </a:prstGeom>
          <a:solidFill>
            <a:schemeClr val="bg2"/>
          </a:solidFill>
          <a:ln/>
        </p:spPr>
      </p:sp>
      <p:pic>
        <p:nvPicPr>
          <p:cNvPr id="13" name="Image 3" descr="Advantages marker">    </p:cNvPr>
          <p:cNvPicPr>
            <a:picLocks noChangeAspect="1"/>
          </p:cNvPicPr>
          <p:nvPr/>
        </p:nvPicPr>
        <p:blipFill>
          <a:blip r:embed="rId4"/>
          <a:stretch>
            <a:fillRect/>
          </a:stretch>
        </p:blipFill>
        <p:spPr>
          <a:xfrm>
            <a:off x="804672" y="4818888"/>
            <a:ext cx="329184" cy="329184"/>
          </a:xfrm>
          <a:prstGeom prst="rect">
            <a:avLst/>
          </a:prstGeom>
        </p:spPr>
      </p:pic>
      <p:sp>
        <p:nvSpPr>
          <p:cNvPr id="14" name="Text 8"/>
          <p:cNvSpPr txBox="1"/>
          <p:nvPr/>
        </p:nvSpPr>
        <p:spPr>
          <a:xfrm>
            <a:off x="1307592" y="4617720"/>
            <a:ext cx="2651760" cy="731520"/>
          </a:xfrm>
          <a:prstGeom prst="rect">
            <a:avLst/>
          </a:prstGeom>
          <a:noFill/>
          <a:ln/>
        </p:spPr>
        <p:txBody>
          <a:bodyPr wrap="square" lIns="0" tIns="0" rIns="0" bIns="0" rtlCol="0" anchor="ctr"/>
          <a:lstStyle/>
          <a:p>
            <a:pPr indent="0" marL="0">
              <a:buNone/>
            </a:pPr>
            <a:r>
              <a:rPr lang="en-US" sz="1500" dirty="0">
                <a:solidFill>
                  <a:schemeClr val="tx1"/>
                </a:solidFill>
              </a:rPr>
              <a:t>Uses only standard Python</a:t>
            </a:r>
            <a:endParaRPr lang="en-US" sz="1500" dirty="0"/>
          </a:p>
        </p:txBody>
      </p:sp>
      <p:sp>
        <p:nvSpPr>
          <p:cNvPr id="15" name="Advantages item 4"/>
          <p:cNvSpPr/>
          <p:nvPr/>
        </p:nvSpPr>
        <p:spPr>
          <a:xfrm>
            <a:off x="621792" y="5440680"/>
            <a:ext cx="3474720" cy="731520"/>
          </a:xfrm>
          <a:prstGeom prst="roundRect">
            <a:avLst>
              <a:gd name="adj" fmla="val 18750"/>
            </a:avLst>
          </a:prstGeom>
          <a:solidFill>
            <a:schemeClr val="bg2"/>
          </a:solidFill>
          <a:ln/>
        </p:spPr>
      </p:sp>
      <p:pic>
        <p:nvPicPr>
          <p:cNvPr id="16" name="Image 4" descr="Advantages marker">    </p:cNvPr>
          <p:cNvPicPr>
            <a:picLocks noChangeAspect="1"/>
          </p:cNvPicPr>
          <p:nvPr/>
        </p:nvPicPr>
        <p:blipFill>
          <a:blip r:embed="rId5"/>
          <a:stretch>
            <a:fillRect/>
          </a:stretch>
        </p:blipFill>
        <p:spPr>
          <a:xfrm>
            <a:off x="804672" y="5641848"/>
            <a:ext cx="329184" cy="329184"/>
          </a:xfrm>
          <a:prstGeom prst="rect">
            <a:avLst/>
          </a:prstGeom>
        </p:spPr>
      </p:pic>
      <p:sp>
        <p:nvSpPr>
          <p:cNvPr id="17" name="Text 10"/>
          <p:cNvSpPr txBox="1"/>
          <p:nvPr/>
        </p:nvSpPr>
        <p:spPr>
          <a:xfrm>
            <a:off x="1307592" y="5440680"/>
            <a:ext cx="2651760" cy="731520"/>
          </a:xfrm>
          <a:prstGeom prst="rect">
            <a:avLst/>
          </a:prstGeom>
          <a:noFill/>
          <a:ln/>
        </p:spPr>
        <p:txBody>
          <a:bodyPr wrap="square" lIns="0" tIns="0" rIns="0" bIns="0" rtlCol="0" anchor="ctr"/>
          <a:lstStyle/>
          <a:p>
            <a:pPr indent="0" marL="0">
              <a:buNone/>
            </a:pPr>
            <a:r>
              <a:rPr lang="en-US" sz="1500" dirty="0">
                <a:solidFill>
                  <a:schemeClr val="tx1"/>
                </a:solidFill>
              </a:rPr>
              <a:t>Good practice of core concepts</a:t>
            </a:r>
            <a:endParaRPr lang="en-US" sz="1500" dirty="0"/>
          </a:p>
        </p:txBody>
      </p:sp>
      <p:sp>
        <p:nvSpPr>
          <p:cNvPr id="18" name="Limitations header"/>
          <p:cNvSpPr/>
          <p:nvPr/>
        </p:nvSpPr>
        <p:spPr>
          <a:xfrm>
            <a:off x="4357116" y="2240280"/>
            <a:ext cx="3474720" cy="594360"/>
          </a:xfrm>
          <a:prstGeom prst="roundRect">
            <a:avLst>
              <a:gd name="adj" fmla="val 18462"/>
            </a:avLst>
          </a:prstGeom>
          <a:solidFill>
            <a:schemeClr val="accent4"/>
          </a:solidFill>
          <a:ln/>
        </p:spPr>
      </p:sp>
      <p:pic>
        <p:nvPicPr>
          <p:cNvPr id="19" name="Image 5" descr="Limitations icon">    </p:cNvPr>
          <p:cNvPicPr>
            <a:picLocks noChangeAspect="1"/>
          </p:cNvPicPr>
          <p:nvPr/>
        </p:nvPicPr>
        <p:blipFill>
          <a:blip r:embed="rId6"/>
          <a:stretch>
            <a:fillRect/>
          </a:stretch>
        </p:blipFill>
        <p:spPr>
          <a:xfrm>
            <a:off x="4585716" y="2395728"/>
            <a:ext cx="283464" cy="283464"/>
          </a:xfrm>
          <a:prstGeom prst="rect">
            <a:avLst/>
          </a:prstGeom>
        </p:spPr>
      </p:pic>
      <p:sp>
        <p:nvSpPr>
          <p:cNvPr id="20" name="Text 12"/>
          <p:cNvSpPr txBox="1"/>
          <p:nvPr/>
        </p:nvSpPr>
        <p:spPr>
          <a:xfrm>
            <a:off x="5042916" y="2240280"/>
            <a:ext cx="2651760" cy="594360"/>
          </a:xfrm>
          <a:prstGeom prst="rect">
            <a:avLst/>
          </a:prstGeom>
          <a:noFill/>
          <a:ln/>
        </p:spPr>
        <p:txBody>
          <a:bodyPr wrap="square" lIns="0" tIns="0" rIns="0" bIns="0" rtlCol="0" anchor="ctr"/>
          <a:lstStyle/>
          <a:p>
            <a:pPr indent="0" marL="0">
              <a:buNone/>
            </a:pPr>
            <a:r>
              <a:rPr lang="en-US" sz="2000" b="1" dirty="0">
                <a:solidFill>
                  <a:schemeClr val="bg1"/>
                </a:solidFill>
              </a:rPr>
              <a:t>Limitations</a:t>
            </a:r>
            <a:endParaRPr lang="en-US" sz="2000" dirty="0"/>
          </a:p>
        </p:txBody>
      </p:sp>
      <p:sp>
        <p:nvSpPr>
          <p:cNvPr id="21" name="Limitations item 1"/>
          <p:cNvSpPr/>
          <p:nvPr/>
        </p:nvSpPr>
        <p:spPr>
          <a:xfrm>
            <a:off x="4357116" y="2971800"/>
            <a:ext cx="3474720" cy="731520"/>
          </a:xfrm>
          <a:prstGeom prst="roundRect">
            <a:avLst>
              <a:gd name="adj" fmla="val 18750"/>
            </a:avLst>
          </a:prstGeom>
          <a:solidFill>
            <a:schemeClr val="bg2"/>
          </a:solidFill>
          <a:ln/>
        </p:spPr>
      </p:sp>
      <p:pic>
        <p:nvPicPr>
          <p:cNvPr id="22" name="Image 6" descr="Limitations marker">    </p:cNvPr>
          <p:cNvPicPr>
            <a:picLocks noChangeAspect="1"/>
          </p:cNvPicPr>
          <p:nvPr/>
        </p:nvPicPr>
        <p:blipFill>
          <a:blip r:embed="rId7"/>
          <a:stretch>
            <a:fillRect/>
          </a:stretch>
        </p:blipFill>
        <p:spPr>
          <a:xfrm>
            <a:off x="4539996" y="3172968"/>
            <a:ext cx="329184" cy="329184"/>
          </a:xfrm>
          <a:prstGeom prst="rect">
            <a:avLst/>
          </a:prstGeom>
        </p:spPr>
      </p:pic>
      <p:sp>
        <p:nvSpPr>
          <p:cNvPr id="23" name="Text 14"/>
          <p:cNvSpPr txBox="1"/>
          <p:nvPr/>
        </p:nvSpPr>
        <p:spPr>
          <a:xfrm>
            <a:off x="5042916" y="2971800"/>
            <a:ext cx="2651760" cy="731520"/>
          </a:xfrm>
          <a:prstGeom prst="rect">
            <a:avLst/>
          </a:prstGeom>
          <a:noFill/>
          <a:ln/>
        </p:spPr>
        <p:txBody>
          <a:bodyPr wrap="square" lIns="0" tIns="0" rIns="0" bIns="0" rtlCol="0" anchor="ctr"/>
          <a:lstStyle/>
          <a:p>
            <a:pPr indent="0" marL="0">
              <a:buNone/>
            </a:pPr>
            <a:r>
              <a:rPr lang="en-US" sz="1500" dirty="0">
                <a:solidFill>
                  <a:schemeClr val="tx1"/>
                </a:solidFill>
              </a:rPr>
              <a:t>Works for one user on one device</a:t>
            </a:r>
            <a:endParaRPr lang="en-US" sz="1500" dirty="0"/>
          </a:p>
        </p:txBody>
      </p:sp>
      <p:sp>
        <p:nvSpPr>
          <p:cNvPr id="24" name="Limitations item 2"/>
          <p:cNvSpPr/>
          <p:nvPr/>
        </p:nvSpPr>
        <p:spPr>
          <a:xfrm>
            <a:off x="4357116" y="3794760"/>
            <a:ext cx="3474720" cy="731520"/>
          </a:xfrm>
          <a:prstGeom prst="roundRect">
            <a:avLst>
              <a:gd name="adj" fmla="val 18750"/>
            </a:avLst>
          </a:prstGeom>
          <a:solidFill>
            <a:schemeClr val="bg2"/>
          </a:solidFill>
          <a:ln/>
        </p:spPr>
      </p:sp>
      <p:pic>
        <p:nvPicPr>
          <p:cNvPr id="25" name="Image 7" descr="Limitations marker">    </p:cNvPr>
          <p:cNvPicPr>
            <a:picLocks noChangeAspect="1"/>
          </p:cNvPicPr>
          <p:nvPr/>
        </p:nvPicPr>
        <p:blipFill>
          <a:blip r:embed="rId8"/>
          <a:stretch>
            <a:fillRect/>
          </a:stretch>
        </p:blipFill>
        <p:spPr>
          <a:xfrm>
            <a:off x="4539996" y="3995928"/>
            <a:ext cx="329184" cy="329184"/>
          </a:xfrm>
          <a:prstGeom prst="rect">
            <a:avLst/>
          </a:prstGeom>
        </p:spPr>
      </p:pic>
      <p:sp>
        <p:nvSpPr>
          <p:cNvPr id="26" name="Text 16"/>
          <p:cNvSpPr txBox="1"/>
          <p:nvPr/>
        </p:nvSpPr>
        <p:spPr>
          <a:xfrm>
            <a:off x="5042916" y="3794760"/>
            <a:ext cx="2651760" cy="731520"/>
          </a:xfrm>
          <a:prstGeom prst="rect">
            <a:avLst/>
          </a:prstGeom>
          <a:noFill/>
          <a:ln/>
        </p:spPr>
        <p:txBody>
          <a:bodyPr wrap="square" lIns="0" tIns="0" rIns="0" bIns="0" rtlCol="0" anchor="ctr"/>
          <a:lstStyle/>
          <a:p>
            <a:pPr indent="0" marL="0">
              <a:buNone/>
            </a:pPr>
            <a:r>
              <a:rPr lang="en-US" sz="1500" dirty="0">
                <a:solidFill>
                  <a:schemeClr val="tx1"/>
                </a:solidFill>
              </a:rPr>
              <a:t>No reminders or due dates</a:t>
            </a:r>
            <a:endParaRPr lang="en-US" sz="1500" dirty="0"/>
          </a:p>
        </p:txBody>
      </p:sp>
      <p:sp>
        <p:nvSpPr>
          <p:cNvPr id="27" name="Limitations item 3"/>
          <p:cNvSpPr/>
          <p:nvPr/>
        </p:nvSpPr>
        <p:spPr>
          <a:xfrm>
            <a:off x="4357116" y="4617720"/>
            <a:ext cx="3474720" cy="731520"/>
          </a:xfrm>
          <a:prstGeom prst="roundRect">
            <a:avLst>
              <a:gd name="adj" fmla="val 18750"/>
            </a:avLst>
          </a:prstGeom>
          <a:solidFill>
            <a:schemeClr val="bg2"/>
          </a:solidFill>
          <a:ln/>
        </p:spPr>
      </p:sp>
      <p:pic>
        <p:nvPicPr>
          <p:cNvPr id="28" name="Image 8" descr="Limitations marker">    </p:cNvPr>
          <p:cNvPicPr>
            <a:picLocks noChangeAspect="1"/>
          </p:cNvPicPr>
          <p:nvPr/>
        </p:nvPicPr>
        <p:blipFill>
          <a:blip r:embed="rId9"/>
          <a:stretch>
            <a:fillRect/>
          </a:stretch>
        </p:blipFill>
        <p:spPr>
          <a:xfrm>
            <a:off x="4539996" y="4818888"/>
            <a:ext cx="329184" cy="329184"/>
          </a:xfrm>
          <a:prstGeom prst="rect">
            <a:avLst/>
          </a:prstGeom>
        </p:spPr>
      </p:pic>
      <p:sp>
        <p:nvSpPr>
          <p:cNvPr id="29" name="Text 18"/>
          <p:cNvSpPr txBox="1"/>
          <p:nvPr/>
        </p:nvSpPr>
        <p:spPr>
          <a:xfrm>
            <a:off x="5042916" y="4617720"/>
            <a:ext cx="2651760" cy="731520"/>
          </a:xfrm>
          <a:prstGeom prst="rect">
            <a:avLst/>
          </a:prstGeom>
          <a:noFill/>
          <a:ln/>
        </p:spPr>
        <p:txBody>
          <a:bodyPr wrap="square" lIns="0" tIns="0" rIns="0" bIns="0" rtlCol="0" anchor="ctr"/>
          <a:lstStyle/>
          <a:p>
            <a:pPr indent="0" marL="0">
              <a:buNone/>
            </a:pPr>
            <a:r>
              <a:rPr lang="en-US" sz="1500" dirty="0">
                <a:solidFill>
                  <a:schemeClr val="tx1"/>
                </a:solidFill>
              </a:rPr>
              <a:t>Plain JSON file, not encrypted</a:t>
            </a:r>
            <a:endParaRPr lang="en-US" sz="1500" dirty="0"/>
          </a:p>
        </p:txBody>
      </p:sp>
      <p:sp>
        <p:nvSpPr>
          <p:cNvPr id="30" name="Limitations item 4"/>
          <p:cNvSpPr/>
          <p:nvPr/>
        </p:nvSpPr>
        <p:spPr>
          <a:xfrm>
            <a:off x="4357116" y="5440680"/>
            <a:ext cx="3474720" cy="731520"/>
          </a:xfrm>
          <a:prstGeom prst="roundRect">
            <a:avLst>
              <a:gd name="adj" fmla="val 18750"/>
            </a:avLst>
          </a:prstGeom>
          <a:solidFill>
            <a:schemeClr val="bg2"/>
          </a:solidFill>
          <a:ln/>
        </p:spPr>
      </p:sp>
      <p:pic>
        <p:nvPicPr>
          <p:cNvPr id="31" name="Image 9" descr="Limitations marker">    </p:cNvPr>
          <p:cNvPicPr>
            <a:picLocks noChangeAspect="1"/>
          </p:cNvPicPr>
          <p:nvPr/>
        </p:nvPicPr>
        <p:blipFill>
          <a:blip r:embed="rId10"/>
          <a:stretch>
            <a:fillRect/>
          </a:stretch>
        </p:blipFill>
        <p:spPr>
          <a:xfrm>
            <a:off x="4539996" y="5641848"/>
            <a:ext cx="329184" cy="329184"/>
          </a:xfrm>
          <a:prstGeom prst="rect">
            <a:avLst/>
          </a:prstGeom>
        </p:spPr>
      </p:pic>
      <p:sp>
        <p:nvSpPr>
          <p:cNvPr id="32" name="Text 20"/>
          <p:cNvSpPr txBox="1"/>
          <p:nvPr/>
        </p:nvSpPr>
        <p:spPr>
          <a:xfrm>
            <a:off x="5042916" y="5440680"/>
            <a:ext cx="2651760" cy="731520"/>
          </a:xfrm>
          <a:prstGeom prst="rect">
            <a:avLst/>
          </a:prstGeom>
          <a:noFill/>
          <a:ln/>
        </p:spPr>
        <p:txBody>
          <a:bodyPr wrap="square" lIns="0" tIns="0" rIns="0" bIns="0" rtlCol="0" anchor="ctr"/>
          <a:lstStyle/>
          <a:p>
            <a:pPr indent="0" marL="0">
              <a:buNone/>
            </a:pPr>
            <a:r>
              <a:rPr lang="en-US" sz="1500" dirty="0">
                <a:solidFill>
                  <a:schemeClr val="tx1"/>
                </a:solidFill>
              </a:rPr>
              <a:t>Basic look and features</a:t>
            </a:r>
            <a:endParaRPr lang="en-US" sz="1500" dirty="0"/>
          </a:p>
        </p:txBody>
      </p:sp>
      <p:sp>
        <p:nvSpPr>
          <p:cNvPr id="33" name="Future Scope header"/>
          <p:cNvSpPr/>
          <p:nvPr/>
        </p:nvSpPr>
        <p:spPr>
          <a:xfrm>
            <a:off x="8092440" y="2240280"/>
            <a:ext cx="3474720" cy="594360"/>
          </a:xfrm>
          <a:prstGeom prst="roundRect">
            <a:avLst>
              <a:gd name="adj" fmla="val 18462"/>
            </a:avLst>
          </a:prstGeom>
          <a:solidFill>
            <a:schemeClr val="accent1"/>
          </a:solidFill>
          <a:ln/>
        </p:spPr>
      </p:sp>
      <p:pic>
        <p:nvPicPr>
          <p:cNvPr id="34" name="Image 10" descr="Future Scope icon">    </p:cNvPr>
          <p:cNvPicPr>
            <a:picLocks noChangeAspect="1"/>
          </p:cNvPicPr>
          <p:nvPr/>
        </p:nvPicPr>
        <p:blipFill>
          <a:blip r:embed="rId11"/>
          <a:stretch>
            <a:fillRect/>
          </a:stretch>
        </p:blipFill>
        <p:spPr>
          <a:xfrm>
            <a:off x="8321040" y="2395728"/>
            <a:ext cx="283464" cy="283464"/>
          </a:xfrm>
          <a:prstGeom prst="rect">
            <a:avLst/>
          </a:prstGeom>
        </p:spPr>
      </p:pic>
      <p:sp>
        <p:nvSpPr>
          <p:cNvPr id="35" name="Text 22"/>
          <p:cNvSpPr txBox="1"/>
          <p:nvPr/>
        </p:nvSpPr>
        <p:spPr>
          <a:xfrm>
            <a:off x="8778240" y="2240280"/>
            <a:ext cx="2651760" cy="594360"/>
          </a:xfrm>
          <a:prstGeom prst="rect">
            <a:avLst/>
          </a:prstGeom>
          <a:noFill/>
          <a:ln/>
        </p:spPr>
        <p:txBody>
          <a:bodyPr wrap="square" lIns="0" tIns="0" rIns="0" bIns="0" rtlCol="0" anchor="ctr"/>
          <a:lstStyle/>
          <a:p>
            <a:pPr indent="0" marL="0">
              <a:buNone/>
            </a:pPr>
            <a:r>
              <a:rPr lang="en-US" sz="2000" b="1" dirty="0">
                <a:solidFill>
                  <a:schemeClr val="bg1"/>
                </a:solidFill>
              </a:rPr>
              <a:t>Future Scope</a:t>
            </a:r>
            <a:endParaRPr lang="en-US" sz="2000" dirty="0"/>
          </a:p>
        </p:txBody>
      </p:sp>
      <p:sp>
        <p:nvSpPr>
          <p:cNvPr id="36" name="Future Scope item 1"/>
          <p:cNvSpPr/>
          <p:nvPr/>
        </p:nvSpPr>
        <p:spPr>
          <a:xfrm>
            <a:off x="8092440" y="2971800"/>
            <a:ext cx="3474720" cy="731520"/>
          </a:xfrm>
          <a:prstGeom prst="roundRect">
            <a:avLst>
              <a:gd name="adj" fmla="val 18750"/>
            </a:avLst>
          </a:prstGeom>
          <a:solidFill>
            <a:schemeClr val="bg2"/>
          </a:solidFill>
          <a:ln/>
        </p:spPr>
      </p:sp>
      <p:pic>
        <p:nvPicPr>
          <p:cNvPr id="37" name="Image 11" descr="Future Scope marker">    </p:cNvPr>
          <p:cNvPicPr>
            <a:picLocks noChangeAspect="1"/>
          </p:cNvPicPr>
          <p:nvPr/>
        </p:nvPicPr>
        <p:blipFill>
          <a:blip r:embed="rId12"/>
          <a:stretch>
            <a:fillRect/>
          </a:stretch>
        </p:blipFill>
        <p:spPr>
          <a:xfrm>
            <a:off x="8275320" y="3172968"/>
            <a:ext cx="329184" cy="329184"/>
          </a:xfrm>
          <a:prstGeom prst="rect">
            <a:avLst/>
          </a:prstGeom>
        </p:spPr>
      </p:pic>
      <p:sp>
        <p:nvSpPr>
          <p:cNvPr id="38" name="Text 24"/>
          <p:cNvSpPr txBox="1"/>
          <p:nvPr/>
        </p:nvSpPr>
        <p:spPr>
          <a:xfrm>
            <a:off x="8778240" y="2971800"/>
            <a:ext cx="2651760" cy="731520"/>
          </a:xfrm>
          <a:prstGeom prst="rect">
            <a:avLst/>
          </a:prstGeom>
          <a:noFill/>
          <a:ln/>
        </p:spPr>
        <p:txBody>
          <a:bodyPr wrap="square" lIns="0" tIns="0" rIns="0" bIns="0" rtlCol="0" anchor="ctr"/>
          <a:lstStyle/>
          <a:p>
            <a:pPr indent="0" marL="0">
              <a:buNone/>
            </a:pPr>
            <a:r>
              <a:rPr lang="en-US" sz="1500" dirty="0">
                <a:solidFill>
                  <a:schemeClr val="tx1"/>
                </a:solidFill>
              </a:rPr>
              <a:t>Add due dates and reminders</a:t>
            </a:r>
            <a:endParaRPr lang="en-US" sz="1500" dirty="0"/>
          </a:p>
        </p:txBody>
      </p:sp>
      <p:sp>
        <p:nvSpPr>
          <p:cNvPr id="39" name="Future Scope item 2"/>
          <p:cNvSpPr/>
          <p:nvPr/>
        </p:nvSpPr>
        <p:spPr>
          <a:xfrm>
            <a:off x="8092440" y="3794760"/>
            <a:ext cx="3474720" cy="731520"/>
          </a:xfrm>
          <a:prstGeom prst="roundRect">
            <a:avLst>
              <a:gd name="adj" fmla="val 18750"/>
            </a:avLst>
          </a:prstGeom>
          <a:solidFill>
            <a:schemeClr val="bg2"/>
          </a:solidFill>
          <a:ln/>
        </p:spPr>
      </p:sp>
      <p:pic>
        <p:nvPicPr>
          <p:cNvPr id="40" name="Image 12" descr="Future Scope marker">    </p:cNvPr>
          <p:cNvPicPr>
            <a:picLocks noChangeAspect="1"/>
          </p:cNvPicPr>
          <p:nvPr/>
        </p:nvPicPr>
        <p:blipFill>
          <a:blip r:embed="rId13"/>
          <a:stretch>
            <a:fillRect/>
          </a:stretch>
        </p:blipFill>
        <p:spPr>
          <a:xfrm>
            <a:off x="8275320" y="3995928"/>
            <a:ext cx="329184" cy="329184"/>
          </a:xfrm>
          <a:prstGeom prst="rect">
            <a:avLst/>
          </a:prstGeom>
        </p:spPr>
      </p:pic>
      <p:sp>
        <p:nvSpPr>
          <p:cNvPr id="41" name="Text 26"/>
          <p:cNvSpPr txBox="1"/>
          <p:nvPr/>
        </p:nvSpPr>
        <p:spPr>
          <a:xfrm>
            <a:off x="8778240" y="3794760"/>
            <a:ext cx="2651760" cy="731520"/>
          </a:xfrm>
          <a:prstGeom prst="rect">
            <a:avLst/>
          </a:prstGeom>
          <a:noFill/>
          <a:ln/>
        </p:spPr>
        <p:txBody>
          <a:bodyPr wrap="square" lIns="0" tIns="0" rIns="0" bIns="0" rtlCol="0" anchor="ctr"/>
          <a:lstStyle/>
          <a:p>
            <a:pPr indent="0" marL="0">
              <a:buNone/>
            </a:pPr>
            <a:r>
              <a:rPr lang="en-US" sz="1500" dirty="0">
                <a:solidFill>
                  <a:schemeClr val="tx1"/>
                </a:solidFill>
              </a:rPr>
              <a:t>Edit tasks and set priorities</a:t>
            </a:r>
            <a:endParaRPr lang="en-US" sz="1500" dirty="0"/>
          </a:p>
        </p:txBody>
      </p:sp>
      <p:sp>
        <p:nvSpPr>
          <p:cNvPr id="42" name="Future Scope item 3"/>
          <p:cNvSpPr/>
          <p:nvPr/>
        </p:nvSpPr>
        <p:spPr>
          <a:xfrm>
            <a:off x="8092440" y="4617720"/>
            <a:ext cx="3474720" cy="731520"/>
          </a:xfrm>
          <a:prstGeom prst="roundRect">
            <a:avLst>
              <a:gd name="adj" fmla="val 18750"/>
            </a:avLst>
          </a:prstGeom>
          <a:solidFill>
            <a:schemeClr val="bg2"/>
          </a:solidFill>
          <a:ln/>
        </p:spPr>
      </p:sp>
      <p:pic>
        <p:nvPicPr>
          <p:cNvPr id="43" name="Image 13" descr="Future Scope marker">    </p:cNvPr>
          <p:cNvPicPr>
            <a:picLocks noChangeAspect="1"/>
          </p:cNvPicPr>
          <p:nvPr/>
        </p:nvPicPr>
        <p:blipFill>
          <a:blip r:embed="rId14"/>
          <a:stretch>
            <a:fillRect/>
          </a:stretch>
        </p:blipFill>
        <p:spPr>
          <a:xfrm>
            <a:off x="8275320" y="4818888"/>
            <a:ext cx="329184" cy="329184"/>
          </a:xfrm>
          <a:prstGeom prst="rect">
            <a:avLst/>
          </a:prstGeom>
        </p:spPr>
      </p:pic>
      <p:sp>
        <p:nvSpPr>
          <p:cNvPr id="44" name="Text 28"/>
          <p:cNvSpPr txBox="1"/>
          <p:nvPr/>
        </p:nvSpPr>
        <p:spPr>
          <a:xfrm>
            <a:off x="8778240" y="4617720"/>
            <a:ext cx="2651760" cy="731520"/>
          </a:xfrm>
          <a:prstGeom prst="rect">
            <a:avLst/>
          </a:prstGeom>
          <a:noFill/>
          <a:ln/>
        </p:spPr>
        <p:txBody>
          <a:bodyPr wrap="square" lIns="0" tIns="0" rIns="0" bIns="0" rtlCol="0" anchor="ctr"/>
          <a:lstStyle/>
          <a:p>
            <a:pPr indent="0" marL="0">
              <a:buNone/>
            </a:pPr>
            <a:r>
              <a:rPr lang="en-US" sz="1500" dirty="0">
                <a:solidFill>
                  <a:schemeClr val="tx1"/>
                </a:solidFill>
              </a:rPr>
              <a:t>Search and categories</a:t>
            </a:r>
            <a:endParaRPr lang="en-US" sz="1500" dirty="0"/>
          </a:p>
        </p:txBody>
      </p:sp>
      <p:sp>
        <p:nvSpPr>
          <p:cNvPr id="45" name="Future Scope item 4"/>
          <p:cNvSpPr/>
          <p:nvPr/>
        </p:nvSpPr>
        <p:spPr>
          <a:xfrm>
            <a:off x="8092440" y="5440680"/>
            <a:ext cx="3474720" cy="731520"/>
          </a:xfrm>
          <a:prstGeom prst="roundRect">
            <a:avLst>
              <a:gd name="adj" fmla="val 18750"/>
            </a:avLst>
          </a:prstGeom>
          <a:solidFill>
            <a:schemeClr val="bg2"/>
          </a:solidFill>
          <a:ln/>
        </p:spPr>
      </p:sp>
      <p:pic>
        <p:nvPicPr>
          <p:cNvPr id="46" name="Image 14" descr="Future Scope marker">    </p:cNvPr>
          <p:cNvPicPr>
            <a:picLocks noChangeAspect="1"/>
          </p:cNvPicPr>
          <p:nvPr/>
        </p:nvPicPr>
        <p:blipFill>
          <a:blip r:embed="rId15"/>
          <a:stretch>
            <a:fillRect/>
          </a:stretch>
        </p:blipFill>
        <p:spPr>
          <a:xfrm>
            <a:off x="8275320" y="5641848"/>
            <a:ext cx="329184" cy="329184"/>
          </a:xfrm>
          <a:prstGeom prst="rect">
            <a:avLst/>
          </a:prstGeom>
        </p:spPr>
      </p:pic>
      <p:sp>
        <p:nvSpPr>
          <p:cNvPr id="47" name="Text 30"/>
          <p:cNvSpPr txBox="1"/>
          <p:nvPr/>
        </p:nvSpPr>
        <p:spPr>
          <a:xfrm>
            <a:off x="8778240" y="5440680"/>
            <a:ext cx="2651760" cy="731520"/>
          </a:xfrm>
          <a:prstGeom prst="rect">
            <a:avLst/>
          </a:prstGeom>
          <a:noFill/>
          <a:ln/>
        </p:spPr>
        <p:txBody>
          <a:bodyPr wrap="square" lIns="0" tIns="0" rIns="0" bIns="0" rtlCol="0" anchor="ctr"/>
          <a:lstStyle/>
          <a:p>
            <a:pPr indent="0" marL="0">
              <a:buNone/>
            </a:pPr>
            <a:r>
              <a:rPr lang="en-US" sz="1500" dirty="0">
                <a:solidFill>
                  <a:schemeClr val="tx1"/>
                </a:solidFill>
              </a:rPr>
              <a:t>Database or cloud sync</a:t>
            </a:r>
            <a:endParaRPr lang="en-US" sz="1500" dirty="0"/>
          </a:p>
        </p:txBody>
      </p:sp>
      <p:sp>
        <p:nvSpPr>
          <p:cNvPr id="25" name="Slide Number Placeholder 0"/>
          <p:cNvSpPr>
            <a:spLocks noGrp="1"/>
          </p:cNvSpPr>
          <p:nvPr>
            <p:ph type="sldNum" sz="quarter" idx="4294967295"/>
          </p:nvPr>
        </p:nvSpPr>
        <p:spPr>
          <a:xfrm>
            <a:off x="10652760"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8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4" type="title" hasCustomPrompt="1"/>
          </p:nvPr>
        </p:nvSpPr>
        <p:spPr>
          <a:xfrm>
            <a:off x="621792" y="1371600"/>
            <a:ext cx="10945368" cy="731520"/>
          </a:xfrm>
          <a:prstGeom prst="rect">
            <a:avLst/>
          </a:prstGeom>
          <a:noFill/>
          <a:ln/>
        </p:spPr>
        <p:txBody>
          <a:bodyPr wrap="square" lIns="0" tIns="0" rIns="0" bIns="0" rtlCol="0" anchor="ctr"/>
          <a:lstStyle/>
          <a:p>
            <a:pPr algn="l" indent="0" marL="0">
              <a:buNone/>
            </a:pPr>
            <a:r>
              <a:rPr lang="en-US" sz="3600" b="1" dirty="0">
                <a:solidFill>
                  <a:schemeClr val="tx2"/>
                </a:solidFill>
              </a:rPr>
              <a:t>Conclusion</a:t>
            </a:r>
            <a:endParaRPr lang="en-US" sz="3600" dirty="0"/>
          </a:p>
        </p:txBody>
      </p:sp>
      <p:sp>
        <p:nvSpPr>
          <p:cNvPr id="3" name="Summary panel"/>
          <p:cNvSpPr/>
          <p:nvPr/>
        </p:nvSpPr>
        <p:spPr>
          <a:xfrm>
            <a:off x="621792" y="2240280"/>
            <a:ext cx="10945368" cy="1325880"/>
          </a:xfrm>
          <a:prstGeom prst="roundRect">
            <a:avLst>
              <a:gd name="adj" fmla="val 10345"/>
            </a:avLst>
          </a:prstGeom>
          <a:solidFill>
            <a:schemeClr val="bg2"/>
          </a:solidFill>
          <a:ln/>
        </p:spPr>
      </p:sp>
      <p:sp>
        <p:nvSpPr>
          <p:cNvPr id="4" name="Text 2"/>
          <p:cNvSpPr txBox="1"/>
          <p:nvPr/>
        </p:nvSpPr>
        <p:spPr>
          <a:xfrm>
            <a:off x="914400" y="2377440"/>
            <a:ext cx="10332720" cy="365760"/>
          </a:xfrm>
          <a:prstGeom prst="rect">
            <a:avLst/>
          </a:prstGeom>
          <a:noFill/>
          <a:ln/>
        </p:spPr>
        <p:txBody>
          <a:bodyPr wrap="square" lIns="0" tIns="0" rIns="0" bIns="0" rtlCol="0" anchor="ctr"/>
          <a:lstStyle/>
          <a:p>
            <a:pPr indent="0" marL="0">
              <a:buNone/>
            </a:pPr>
            <a:r>
              <a:rPr lang="en-US" sz="2000" b="1" dirty="0">
                <a:solidFill>
                  <a:schemeClr val="tx2"/>
                </a:solidFill>
              </a:rPr>
              <a:t>Summary</a:t>
            </a:r>
            <a:endParaRPr lang="en-US" sz="2000" dirty="0"/>
          </a:p>
        </p:txBody>
      </p:sp>
      <p:sp>
        <p:nvSpPr>
          <p:cNvPr id="5" name="Text 3"/>
          <p:cNvSpPr txBox="1"/>
          <p:nvPr/>
        </p:nvSpPr>
        <p:spPr>
          <a:xfrm>
            <a:off x="914400" y="2788920"/>
            <a:ext cx="10332720" cy="640080"/>
          </a:xfrm>
          <a:prstGeom prst="rect">
            <a:avLst/>
          </a:prstGeom>
          <a:noFill/>
          <a:ln/>
        </p:spPr>
        <p:txBody>
          <a:bodyPr wrap="square" lIns="0" tIns="0" rIns="0" bIns="0" rtlCol="0" anchor="t"/>
          <a:lstStyle/>
          <a:p>
            <a:pPr indent="0" marL="0">
              <a:buNone/>
            </a:pPr>
            <a:r>
              <a:rPr lang="en-US" sz="1700" dirty="0">
                <a:solidFill>
                  <a:schemeClr val="tx1"/>
                </a:solidFill>
              </a:rPr>
              <a:t>The To-Do List app combines Python lists, JSON file handling and a Tkinter GUI to add, view, complete and delete daily tasks.</a:t>
            </a:r>
            <a:endParaRPr lang="en-US" sz="1700" dirty="0"/>
          </a:p>
        </p:txBody>
      </p:sp>
      <p:sp>
        <p:nvSpPr>
          <p:cNvPr id="6" name="Text 4"/>
          <p:cNvSpPr txBox="1"/>
          <p:nvPr/>
        </p:nvSpPr>
        <p:spPr>
          <a:xfrm>
            <a:off x="621792" y="3749040"/>
            <a:ext cx="5486400" cy="365760"/>
          </a:xfrm>
          <a:prstGeom prst="rect">
            <a:avLst/>
          </a:prstGeom>
          <a:noFill/>
          <a:ln/>
        </p:spPr>
        <p:txBody>
          <a:bodyPr wrap="square" lIns="0" tIns="0" rIns="0" bIns="0" rtlCol="0" anchor="ctr"/>
          <a:lstStyle/>
          <a:p>
            <a:pPr indent="0" marL="0">
              <a:buNone/>
            </a:pPr>
            <a:r>
              <a:rPr lang="en-US" sz="2000" b="1" dirty="0">
                <a:solidFill>
                  <a:schemeClr val="tx2"/>
                </a:solidFill>
              </a:rPr>
              <a:t>What We Learned</a:t>
            </a:r>
            <a:endParaRPr lang="en-US" sz="2000" dirty="0"/>
          </a:p>
        </p:txBody>
      </p:sp>
      <p:sp>
        <p:nvSpPr>
          <p:cNvPr id="7" name="Learning card 1"/>
          <p:cNvSpPr/>
          <p:nvPr/>
        </p:nvSpPr>
        <p:spPr>
          <a:xfrm>
            <a:off x="621792" y="4206240"/>
            <a:ext cx="3465576" cy="1920240"/>
          </a:xfrm>
          <a:prstGeom prst="roundRect">
            <a:avLst>
              <a:gd name="adj" fmla="val 7143"/>
            </a:avLst>
          </a:prstGeom>
          <a:solidFill>
            <a:schemeClr val="bg2"/>
          </a:solidFill>
          <a:ln/>
        </p:spPr>
      </p:sp>
      <p:sp>
        <p:nvSpPr>
          <p:cNvPr id="8" name="Python Lists circle"/>
          <p:cNvSpPr/>
          <p:nvPr/>
        </p:nvSpPr>
        <p:spPr>
          <a:xfrm>
            <a:off x="850392" y="4480560"/>
            <a:ext cx="731520" cy="731520"/>
          </a:xfrm>
          <a:prstGeom prst="ellipse">
            <a:avLst/>
          </a:prstGeom>
          <a:solidFill>
            <a:schemeClr val="accent2"/>
          </a:solidFill>
          <a:ln/>
        </p:spPr>
      </p:sp>
      <p:pic>
        <p:nvPicPr>
          <p:cNvPr id="9" name="Image 0" descr="Python Lists icon">    </p:cNvPr>
          <p:cNvPicPr>
            <a:picLocks noChangeAspect="1"/>
          </p:cNvPicPr>
          <p:nvPr/>
        </p:nvPicPr>
        <p:blipFill>
          <a:blip r:embed="rId1"/>
          <a:stretch>
            <a:fillRect/>
          </a:stretch>
        </p:blipFill>
        <p:spPr>
          <a:xfrm>
            <a:off x="1047902" y="4678070"/>
            <a:ext cx="336499" cy="336499"/>
          </a:xfrm>
          <a:prstGeom prst="rect">
            <a:avLst/>
          </a:prstGeom>
        </p:spPr>
      </p:pic>
      <p:sp>
        <p:nvSpPr>
          <p:cNvPr id="10" name="Text 7"/>
          <p:cNvSpPr txBox="1"/>
          <p:nvPr/>
        </p:nvSpPr>
        <p:spPr>
          <a:xfrm>
            <a:off x="1764792" y="4480560"/>
            <a:ext cx="2194560" cy="731520"/>
          </a:xfrm>
          <a:prstGeom prst="rect">
            <a:avLst/>
          </a:prstGeom>
          <a:noFill/>
          <a:ln/>
        </p:spPr>
        <p:txBody>
          <a:bodyPr wrap="square" lIns="0" tIns="0" rIns="0" bIns="0" rtlCol="0" anchor="ctr"/>
          <a:lstStyle/>
          <a:p>
            <a:pPr indent="0" marL="0">
              <a:buNone/>
            </a:pPr>
            <a:r>
              <a:rPr lang="en-US" sz="1800" b="1" dirty="0">
                <a:solidFill>
                  <a:schemeClr val="tx2"/>
                </a:solidFill>
              </a:rPr>
              <a:t>Python Lists</a:t>
            </a:r>
            <a:endParaRPr lang="en-US" sz="1800" dirty="0"/>
          </a:p>
        </p:txBody>
      </p:sp>
      <p:sp>
        <p:nvSpPr>
          <p:cNvPr id="11" name="Text 8"/>
          <p:cNvSpPr txBox="1"/>
          <p:nvPr/>
        </p:nvSpPr>
        <p:spPr>
          <a:xfrm>
            <a:off x="850392" y="5349240"/>
            <a:ext cx="3017520" cy="685800"/>
          </a:xfrm>
          <a:prstGeom prst="rect">
            <a:avLst/>
          </a:prstGeom>
          <a:noFill/>
          <a:ln/>
        </p:spPr>
        <p:txBody>
          <a:bodyPr wrap="square" lIns="0" tIns="0" rIns="0" bIns="0" rtlCol="0" anchor="t"/>
          <a:lstStyle/>
          <a:p>
            <a:pPr indent="0" marL="0">
              <a:buNone/>
            </a:pPr>
            <a:r>
              <a:rPr lang="en-US" sz="1500" dirty="0">
                <a:solidFill>
                  <a:schemeClr val="tx1"/>
                </a:solidFill>
              </a:rPr>
              <a:t>Store, add, update and remove tasks in memory.</a:t>
            </a:r>
            <a:endParaRPr lang="en-US" sz="1500" dirty="0"/>
          </a:p>
        </p:txBody>
      </p:sp>
      <p:sp>
        <p:nvSpPr>
          <p:cNvPr id="12" name="Learning card 2"/>
          <p:cNvSpPr/>
          <p:nvPr/>
        </p:nvSpPr>
        <p:spPr>
          <a:xfrm>
            <a:off x="4361688" y="4206240"/>
            <a:ext cx="3465576" cy="1920240"/>
          </a:xfrm>
          <a:prstGeom prst="roundRect">
            <a:avLst>
              <a:gd name="adj" fmla="val 7143"/>
            </a:avLst>
          </a:prstGeom>
          <a:solidFill>
            <a:schemeClr val="bg2"/>
          </a:solidFill>
          <a:ln/>
        </p:spPr>
      </p:sp>
      <p:sp>
        <p:nvSpPr>
          <p:cNvPr id="13" name="JSON File Handling circle"/>
          <p:cNvSpPr/>
          <p:nvPr/>
        </p:nvSpPr>
        <p:spPr>
          <a:xfrm>
            <a:off x="4590288" y="4480560"/>
            <a:ext cx="731520" cy="731520"/>
          </a:xfrm>
          <a:prstGeom prst="ellipse">
            <a:avLst/>
          </a:prstGeom>
          <a:solidFill>
            <a:schemeClr val="accent1"/>
          </a:solidFill>
          <a:ln/>
        </p:spPr>
      </p:sp>
      <p:pic>
        <p:nvPicPr>
          <p:cNvPr id="14" name="Image 1" descr="JSON File Handling icon">    </p:cNvPr>
          <p:cNvPicPr>
            <a:picLocks noChangeAspect="1"/>
          </p:cNvPicPr>
          <p:nvPr/>
        </p:nvPicPr>
        <p:blipFill>
          <a:blip r:embed="rId2"/>
          <a:stretch>
            <a:fillRect/>
          </a:stretch>
        </p:blipFill>
        <p:spPr>
          <a:xfrm>
            <a:off x="4787798" y="4678070"/>
            <a:ext cx="336499" cy="336499"/>
          </a:xfrm>
          <a:prstGeom prst="rect">
            <a:avLst/>
          </a:prstGeom>
        </p:spPr>
      </p:pic>
      <p:sp>
        <p:nvSpPr>
          <p:cNvPr id="15" name="Text 11"/>
          <p:cNvSpPr txBox="1"/>
          <p:nvPr/>
        </p:nvSpPr>
        <p:spPr>
          <a:xfrm>
            <a:off x="5504688" y="4480560"/>
            <a:ext cx="2194560" cy="731520"/>
          </a:xfrm>
          <a:prstGeom prst="rect">
            <a:avLst/>
          </a:prstGeom>
          <a:noFill/>
          <a:ln/>
        </p:spPr>
        <p:txBody>
          <a:bodyPr wrap="square" lIns="0" tIns="0" rIns="0" bIns="0" rtlCol="0" anchor="ctr"/>
          <a:lstStyle/>
          <a:p>
            <a:pPr indent="0" marL="0">
              <a:buNone/>
            </a:pPr>
            <a:r>
              <a:rPr lang="en-US" sz="1800" b="1" dirty="0">
                <a:solidFill>
                  <a:schemeClr val="tx2"/>
                </a:solidFill>
              </a:rPr>
              <a:t>JSON File Handling</a:t>
            </a:r>
            <a:endParaRPr lang="en-US" sz="1800" dirty="0"/>
          </a:p>
        </p:txBody>
      </p:sp>
      <p:sp>
        <p:nvSpPr>
          <p:cNvPr id="16" name="Text 12"/>
          <p:cNvSpPr txBox="1"/>
          <p:nvPr/>
        </p:nvSpPr>
        <p:spPr>
          <a:xfrm>
            <a:off x="4590288" y="5349240"/>
            <a:ext cx="3017520" cy="685800"/>
          </a:xfrm>
          <a:prstGeom prst="rect">
            <a:avLst/>
          </a:prstGeom>
          <a:noFill/>
          <a:ln/>
        </p:spPr>
        <p:txBody>
          <a:bodyPr wrap="square" lIns="0" tIns="0" rIns="0" bIns="0" rtlCol="0" anchor="t"/>
          <a:lstStyle/>
          <a:p>
            <a:pPr indent="0" marL="0">
              <a:buNone/>
            </a:pPr>
            <a:r>
              <a:rPr lang="en-US" sz="1500" dirty="0">
                <a:solidFill>
                  <a:schemeClr val="tx1"/>
                </a:solidFill>
              </a:rPr>
              <a:t>Save and load data so tasks stay after closing.</a:t>
            </a:r>
            <a:endParaRPr lang="en-US" sz="1500" dirty="0"/>
          </a:p>
        </p:txBody>
      </p:sp>
      <p:sp>
        <p:nvSpPr>
          <p:cNvPr id="17" name="Learning card 3"/>
          <p:cNvSpPr/>
          <p:nvPr/>
        </p:nvSpPr>
        <p:spPr>
          <a:xfrm>
            <a:off x="8101584" y="4206240"/>
            <a:ext cx="3465576" cy="1920240"/>
          </a:xfrm>
          <a:prstGeom prst="roundRect">
            <a:avLst>
              <a:gd name="adj" fmla="val 7143"/>
            </a:avLst>
          </a:prstGeom>
          <a:solidFill>
            <a:schemeClr val="bg2"/>
          </a:solidFill>
          <a:ln/>
        </p:spPr>
      </p:sp>
      <p:sp>
        <p:nvSpPr>
          <p:cNvPr id="18" name="Tkinter GUI circle"/>
          <p:cNvSpPr/>
          <p:nvPr/>
        </p:nvSpPr>
        <p:spPr>
          <a:xfrm>
            <a:off x="8330184" y="4480560"/>
            <a:ext cx="731520" cy="731520"/>
          </a:xfrm>
          <a:prstGeom prst="ellipse">
            <a:avLst/>
          </a:prstGeom>
          <a:solidFill>
            <a:schemeClr val="accent2"/>
          </a:solidFill>
          <a:ln/>
        </p:spPr>
      </p:sp>
      <p:pic>
        <p:nvPicPr>
          <p:cNvPr id="19" name="Image 2" descr="Tkinter GUI icon">    </p:cNvPr>
          <p:cNvPicPr>
            <a:picLocks noChangeAspect="1"/>
          </p:cNvPicPr>
          <p:nvPr/>
        </p:nvPicPr>
        <p:blipFill>
          <a:blip r:embed="rId3"/>
          <a:stretch>
            <a:fillRect/>
          </a:stretch>
        </p:blipFill>
        <p:spPr>
          <a:xfrm>
            <a:off x="8527694" y="4678070"/>
            <a:ext cx="336499" cy="336499"/>
          </a:xfrm>
          <a:prstGeom prst="rect">
            <a:avLst/>
          </a:prstGeom>
        </p:spPr>
      </p:pic>
      <p:sp>
        <p:nvSpPr>
          <p:cNvPr id="20" name="Text 15"/>
          <p:cNvSpPr txBox="1"/>
          <p:nvPr/>
        </p:nvSpPr>
        <p:spPr>
          <a:xfrm>
            <a:off x="9244584" y="4480560"/>
            <a:ext cx="2194560" cy="731520"/>
          </a:xfrm>
          <a:prstGeom prst="rect">
            <a:avLst/>
          </a:prstGeom>
          <a:noFill/>
          <a:ln/>
        </p:spPr>
        <p:txBody>
          <a:bodyPr wrap="square" lIns="0" tIns="0" rIns="0" bIns="0" rtlCol="0" anchor="ctr"/>
          <a:lstStyle/>
          <a:p>
            <a:pPr indent="0" marL="0">
              <a:buNone/>
            </a:pPr>
            <a:r>
              <a:rPr lang="en-US" sz="1800" b="1" dirty="0">
                <a:solidFill>
                  <a:schemeClr val="tx2"/>
                </a:solidFill>
              </a:rPr>
              <a:t>Tkinter GUI</a:t>
            </a:r>
            <a:endParaRPr lang="en-US" sz="1800" dirty="0"/>
          </a:p>
        </p:txBody>
      </p:sp>
      <p:sp>
        <p:nvSpPr>
          <p:cNvPr id="21" name="Text 16"/>
          <p:cNvSpPr txBox="1"/>
          <p:nvPr/>
        </p:nvSpPr>
        <p:spPr>
          <a:xfrm>
            <a:off x="8330184" y="5349240"/>
            <a:ext cx="3017520" cy="685800"/>
          </a:xfrm>
          <a:prstGeom prst="rect">
            <a:avLst/>
          </a:prstGeom>
          <a:noFill/>
          <a:ln/>
        </p:spPr>
        <p:txBody>
          <a:bodyPr wrap="square" lIns="0" tIns="0" rIns="0" bIns="0" rtlCol="0" anchor="t"/>
          <a:lstStyle/>
          <a:p>
            <a:pPr indent="0" marL="0">
              <a:buNone/>
            </a:pPr>
            <a:r>
              <a:rPr lang="en-US" sz="1500" dirty="0">
                <a:solidFill>
                  <a:schemeClr val="tx1"/>
                </a:solidFill>
              </a:rPr>
              <a:t>Build windows and buttons that respond to users.</a:t>
            </a:r>
            <a:endParaRPr lang="en-US" sz="1500" dirty="0"/>
          </a:p>
        </p:txBody>
      </p:sp>
      <p:sp>
        <p:nvSpPr>
          <p:cNvPr id="25" name="Slide Number Placeholder 0"/>
          <p:cNvSpPr>
            <a:spLocks noGrp="1"/>
          </p:cNvSpPr>
          <p:nvPr>
            <p:ph type="sldNum" sz="quarter" idx="4294967295"/>
          </p:nvPr>
        </p:nvSpPr>
        <p:spPr>
          <a:xfrm>
            <a:off x="10652760"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78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ADIT Academic">
  <a:themeElements>
    <a:clrScheme name="ADIT Academic">
      <a:dk1>
        <a:srgbClr val="1A2036"/>
      </a:dk1>
      <a:lt1>
        <a:srgbClr val="FFFFFF"/>
      </a:lt1>
      <a:dk2>
        <a:srgbClr val="2E3F7F"/>
      </a:dk2>
      <a:lt2>
        <a:srgbClr val="EBF2FA"/>
      </a:lt2>
      <a:accent1>
        <a:srgbClr val="2386C8"/>
      </a:accent1>
      <a:accent2>
        <a:srgbClr val="2E3F7F"/>
      </a:accent2>
      <a:accent3>
        <a:srgbClr val="FDB724"/>
      </a:accent3>
      <a:accent4>
        <a:srgbClr val="E8572E"/>
      </a:accent4>
      <a:accent5>
        <a:srgbClr val="17806B"/>
      </a:accent5>
      <a:accent6>
        <a:srgbClr val="5B6784"/>
      </a:accent6>
      <a:hlink>
        <a:srgbClr val="2386C8"/>
      </a:hlink>
      <a:folHlink>
        <a:srgbClr val="5B6784"/>
      </a:folHlink>
    </a:clrScheme>
    <a:fontScheme name="ADIT Academ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 D Patel Institute Of Technology, CVM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To-Do List Application Using Python</dc:title>
  <dc:subject>PptxGenJS Presentation</dc:subject>
  <dc:creator>Kremish Borad, Manan Jivani</dc:creator>
  <cp:lastModifiedBy>Kremish Borad, Manan Jivani</cp:lastModifiedBy>
  <cp:revision>1</cp:revision>
  <dcterms:created xsi:type="dcterms:W3CDTF">2026-10-28T13:17:18Z</dcterms:created>
  <dcterms:modified xsi:type="dcterms:W3CDTF">2026-10-28T13:17:18Z</dcterms:modified>
</cp:coreProperties>
</file>